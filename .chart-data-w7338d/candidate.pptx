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bd8cc8762d472c" /><Relationship Type="http://schemas.openxmlformats.org/officeDocument/2006/relationships/extended-properties" Target="/docProps/app.xml" Id="R80b7a55ba7ce4af9" /><Relationship Type="http://schemas.openxmlformats.org/officeDocument/2006/relationships/officeDocument" Target="/ppt/presentation.xml" Id="Ra55645c1cb084399" /></Relationships>
</file>

<file path=ppt/presentation.xml><?xml version="1.0" encoding="utf-8"?>
<p:presentation xmlns:p="http://schemas.openxmlformats.org/presentationml/2006/main">
  <p:sldMasterIdLst>
    <p:sldMasterId xmlns:r="http://schemas.openxmlformats.org/officeDocument/2006/relationships" id="2147483648" r:id="Rb906549244e94cc8"/>
  </p:sldMasterIdLst>
  <p:notesMasterIdLst>
    <p:notesMasterId xmlns:r="http://schemas.openxmlformats.org/officeDocument/2006/relationships" r:id="R4bcd1b1d79ea43f9"/>
  </p:notesMasterIdLst>
  <p:sldIdLst>
    <p:sldId xmlns:r="http://schemas.openxmlformats.org/officeDocument/2006/relationships" id="256" r:id="Rf8030f53a81440ae"/>
    <p:sldId xmlns:r="http://schemas.openxmlformats.org/officeDocument/2006/relationships" id="257" r:id="Re5843fb72f1146b8"/>
    <p:sldId xmlns:r="http://schemas.openxmlformats.org/officeDocument/2006/relationships" id="258" r:id="R4d221bdb7efe4324"/>
    <p:sldId xmlns:r="http://schemas.openxmlformats.org/officeDocument/2006/relationships" id="259" r:id="Rf3f25ce26b9b4163"/>
    <p:sldId xmlns:r="http://schemas.openxmlformats.org/officeDocument/2006/relationships" id="260" r:id="R6f0475e29a514701"/>
    <p:sldId xmlns:r="http://schemas.openxmlformats.org/officeDocument/2006/relationships" id="261" r:id="R842c7b4f60764eda"/>
    <p:sldId xmlns:r="http://schemas.openxmlformats.org/officeDocument/2006/relationships" id="262" r:id="R61ede5645fa24a20"/>
    <p:sldId xmlns:r="http://schemas.openxmlformats.org/officeDocument/2006/relationships" id="263" r:id="R4dec1343fd8249bd"/>
    <p:sldId xmlns:r="http://schemas.openxmlformats.org/officeDocument/2006/relationships" id="264" r:id="R691583c9994642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ccc8a7946f4673" /><Relationship Type="http://schemas.openxmlformats.org/officeDocument/2006/relationships/slideMaster" Target="/ppt/slideMasters/slideMaster1.xml" Id="Rb906549244e94cc8" /><Relationship Type="http://schemas.openxmlformats.org/officeDocument/2006/relationships/notesMaster" Target="/ppt/notesMasters/notesMaster1.xml" Id="R4bcd1b1d79ea43f9" /><Relationship Type="http://schemas.openxmlformats.org/officeDocument/2006/relationships/presProps" Target="/ppt/presProps.xml" Id="Reab08cf154e244b7" /><Relationship Type="http://schemas.openxmlformats.org/officeDocument/2006/relationships/tableStyles" Target="/ppt/tableStyles.xml" Id="R5a483fa71c0b442f" /><Relationship Type="http://schemas.openxmlformats.org/officeDocument/2006/relationships/slide" Target="/ppt/slides/slide1.xml" Id="Rf8030f53a81440ae" /><Relationship Type="http://schemas.openxmlformats.org/officeDocument/2006/relationships/slide" Target="/ppt/slides/slide2.xml" Id="Re5843fb72f1146b8" /><Relationship Type="http://schemas.openxmlformats.org/officeDocument/2006/relationships/slide" Target="/ppt/slides/slide3.xml" Id="R4d221bdb7efe4324" /><Relationship Type="http://schemas.openxmlformats.org/officeDocument/2006/relationships/slide" Target="/ppt/slides/slide4.xml" Id="Rf3f25ce26b9b4163" /><Relationship Type="http://schemas.openxmlformats.org/officeDocument/2006/relationships/slide" Target="/ppt/slides/slide5.xml" Id="R6f0475e29a514701" /><Relationship Type="http://schemas.openxmlformats.org/officeDocument/2006/relationships/slide" Target="/ppt/slides/slide6.xml" Id="R842c7b4f60764eda" /><Relationship Type="http://schemas.openxmlformats.org/officeDocument/2006/relationships/slide" Target="/ppt/slides/slide7.xml" Id="R61ede5645fa24a20" /><Relationship Type="http://schemas.openxmlformats.org/officeDocument/2006/relationships/slide" Target="/ppt/slides/slide8.xml" Id="R4dec1343fd8249bd" /><Relationship Type="http://schemas.openxmlformats.org/officeDocument/2006/relationships/slide" Target="/ppt/slides/slide9.xml" Id="R691583c99946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e31342f4845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9178b36ec74250" /><Relationship Type="http://schemas.openxmlformats.org/officeDocument/2006/relationships/notesMaster" Target="/ppt/notesMasters/notesMaster1.xml" Id="R44fa3ae404ab49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71c6ce70424cd3" /><Relationship Type="http://schemas.openxmlformats.org/officeDocument/2006/relationships/notesMaster" Target="/ppt/notesMasters/notesMaster1.xml" Id="R7a492a896119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eec4b89beb4e04" /><Relationship Type="http://schemas.openxmlformats.org/officeDocument/2006/relationships/notesMaster" Target="/ppt/notesMasters/notesMaster1.xml" Id="R6d911dce3d7142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166fa9cf24578" /><Relationship Type="http://schemas.openxmlformats.org/officeDocument/2006/relationships/notesMaster" Target="/ppt/notesMasters/notesMaster1.xml" Id="R4a76513c1c0742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c02bcd9a794548" /><Relationship Type="http://schemas.openxmlformats.org/officeDocument/2006/relationships/notesMaster" Target="/ppt/notesMasters/notesMaster1.xml" Id="R4e8b6e765812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d444f668244cd7" /><Relationship Type="http://schemas.openxmlformats.org/officeDocument/2006/relationships/notesMaster" Target="/ppt/notesMasters/notesMaster1.xml" Id="R3395e1c5c87049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88f29fa9c4a00" /><Relationship Type="http://schemas.openxmlformats.org/officeDocument/2006/relationships/notesMaster" Target="/ppt/notesMasters/notesMaster1.xml" Id="R2977cf0b66784f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0b8b58e0044d5" /><Relationship Type="http://schemas.openxmlformats.org/officeDocument/2006/relationships/notesMaster" Target="/ppt/notesMasters/notesMaster1.xml" Id="Rd6f2fceb40364d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51fbb404704fb2" /><Relationship Type="http://schemas.openxmlformats.org/officeDocument/2006/relationships/notesMaster" Target="/ppt/notesMasters/notesMaster1.xml" Id="R9f7c6bf136cd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project analyzes the MovieLens 20M movie ratings dataset. I used PySpark to calculate summaries, Cassandra to store them, and charts to explain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a large collection of individual ratings into useful summaries. I focused on four questions: which movies have how many ratings, how genres compare, which scores are most common, and how average ratings vary by release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files are movie.csv and rating.csv. The ratings file has 20,000,263 data rows. The movie file has 27,278 movies. Ratings use half-star increments from 0.5 to 5.0. The movie file also supplies a title and one or more genres for each movie. Source: the MovieLens 20M files included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Spark reads the two CSV files. Then it calculates four summaries. I save each summary as a CSV file and load the same rows into Cassandra. The program also creates charts and checks how many rows each Cassandra table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score was 4.0 stars, with 5,561,926 ratings. That is about 27.8 percent of all 20,000,263 ratings. The next most common score was 3.0 stars, with about 4.29 million ratings. These are counts, so they show how often each score was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average ratings for all 19 genres. Film-Noir had the highest average, about 3.97, based on 216,689 ratings. Drama had the most ratings, with 8,857,853. A high average and a high number of ratings measure different things, so I report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average rating by release year from 1990 through 2014. The values range from 3.35 in 1996 to 3.60 in 2010. I left 2015 off this chart because that year has only 996 ratings in this dataset, far fewer than the preceding years. The chart describes the data and does not show that release year caused a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Cassandra contains one table for each summary. I loaded 27,278 movie rows, 19 genre rows, 10 rating score rows, and 118 release-year rows. The script checked each table after loading, and the counts matched the summary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4.0 stars was the most common rating. Film-Noir had the highest average, while Drama had the most ratings. This analysis summarizes patterns but cannot tell us why a person gave a score. Genre averages also need context because the genres have different numbers of ratings.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e913d6a184d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af8aead7314f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d71f7706b549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0e96ac017843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7f1051e5cd4d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815a0a0e884f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12B6D-3C18-4F52-B00E-2CC00DEDA0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7F88CF-0AFF-4FCD-B031-C08058EAEF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704A22-3EAF-4C1E-8E5C-8E943DF444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A4FB06-FD2B-4CC9-A1FF-C717CB565B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94D742-C447-43D9-9C08-8B13F62DC1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1BDA7E-0414-48D5-946E-20B92B7B8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AD4EA0-4F03-4C96-9DD8-1C08075293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0FA306-8C1F-4BF6-BECD-13615E3ED6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4E0C6-86A4-4DEA-9886-41733D8BC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D608E5-038C-435A-8022-AB8093C312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6aab9ab55d4335" /><Relationship Type="http://schemas.openxmlformats.org/officeDocument/2006/relationships/slideLayout" Target="/ppt/slideLayouts/slideLayout1.xml" Id="Ref6e2c4c4c1347ec" /><Relationship Type="http://schemas.openxmlformats.org/officeDocument/2006/relationships/slideLayout" Target="/ppt/slideLayouts/slideLayout2.xml" Id="R4db00af2b8874345" /><Relationship Type="http://schemas.openxmlformats.org/officeDocument/2006/relationships/slideLayout" Target="/ppt/slideLayouts/slideLayout3.xml" Id="R3b9b596e60524ac7" /><Relationship Type="http://schemas.openxmlformats.org/officeDocument/2006/relationships/slideLayout" Target="/ppt/slideLayouts/slideLayout4.xml" Id="Rd2a693c912eb4738" /><Relationship Type="http://schemas.openxmlformats.org/officeDocument/2006/relationships/slideLayout" Target="/ppt/slideLayouts/slideLayout5.xml" Id="Rb97e3bbeff9f4167" /><Relationship Type="http://schemas.openxmlformats.org/officeDocument/2006/relationships/slideLayout" Target="/ppt/slideLayouts/slideLayout6.xml" Id="R1839d5a7164146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6e2c4c4c1347ec"/>
    <p:sldLayoutId xmlns:r="http://schemas.openxmlformats.org/officeDocument/2006/relationships" id="2147483650" r:id="R4db00af2b8874345"/>
    <p:sldLayoutId xmlns:r="http://schemas.openxmlformats.org/officeDocument/2006/relationships" id="2147483651" r:id="R3b9b596e60524ac7"/>
    <p:sldLayoutId xmlns:r="http://schemas.openxmlformats.org/officeDocument/2006/relationships" id="2147483652" r:id="Rd2a693c912eb4738"/>
    <p:sldLayoutId xmlns:r="http://schemas.openxmlformats.org/officeDocument/2006/relationships" id="2147483653" r:id="Rb97e3bbeff9f4167"/>
    <p:sldLayoutId xmlns:r="http://schemas.openxmlformats.org/officeDocument/2006/relationships" id="2147483654" r:id="R1839d5a7164146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b0ef8234634b49" /><Relationship Type="http://schemas.openxmlformats.org/officeDocument/2006/relationships/notesSlide" Target="/ppt/notesSlides/notesSlide1.xml" Id="Rd93d45974ac142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2f97e55f2d43cb" /><Relationship Type="http://schemas.openxmlformats.org/officeDocument/2006/relationships/notesSlide" Target="/ppt/notesSlides/notesSlide2.xml" Id="R889bf74ddcc546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2a612bc5704d15" /><Relationship Type="http://schemas.openxmlformats.org/officeDocument/2006/relationships/notesSlide" Target="/ppt/notesSlides/notesSlide3.xml" Id="R0790a56b545b45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b9c789349d42dd" /><Relationship Type="http://schemas.openxmlformats.org/officeDocument/2006/relationships/notesSlide" Target="/ppt/notesSlides/notesSlide4.xml" Id="R1e5d896a8d7c48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8dfc5494df4edd" /><Relationship Type="http://schemas.openxmlformats.org/officeDocument/2006/relationships/chart" Target="/ppt/slides/charts/chart1.xml" Id="Ra7b7f428b868459f" /><Relationship Type="http://schemas.openxmlformats.org/officeDocument/2006/relationships/notesSlide" Target="/ppt/notesSlides/notesSlide5.xml" Id="Re85d1631e54146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3c59e03d174226" /><Relationship Type="http://schemas.openxmlformats.org/officeDocument/2006/relationships/chart" Target="/ppt/slides/charts/chart2.xml" Id="R655cc8cc4f2e4151" /><Relationship Type="http://schemas.openxmlformats.org/officeDocument/2006/relationships/notesSlide" Target="/ppt/notesSlides/notesSlide6.xml" Id="R3df134eee68043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67f774b8094820" /><Relationship Type="http://schemas.openxmlformats.org/officeDocument/2006/relationships/chart" Target="/ppt/slides/charts/chart3.xml" Id="Rd80480f880944934" /><Relationship Type="http://schemas.openxmlformats.org/officeDocument/2006/relationships/notesSlide" Target="/ppt/notesSlides/notesSlide7.xml" Id="R6ea4fc2f414e45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e5b87792534f21" /><Relationship Type="http://schemas.openxmlformats.org/officeDocument/2006/relationships/notesSlide" Target="/ppt/notesSlides/notesSlide8.xml" Id="R0beace2153074f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f399c2d0c24c9d" /><Relationship Type="http://schemas.openxmlformats.org/officeDocument/2006/relationships/notesSlide" Target="/ppt/notesSlides/notesSlide9.xml" Id="R86a543d7e3934e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Ratings (millions)</c:v>
          </c:tx>
          <c:spPr>
            <a:solidFill xmlns:a="http://schemas.openxmlformats.org/drawingml/2006/main">
              <a:srgbClr val="168C8C"/>
            </a:solidFill>
          </c:spPr>
          <c:invertIfNegative val="0"/>
          <c:cat>
            <c:numRef>
              <c:f>'Chart Data'!$A$2:$A$11</c:f>
              <c:numCache>
                <c:formatCode>General</c:formatCode>
                <c:ptCount val="10"/>
                <c:pt idx="0">
                  <c:v>0.5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0.239125</c:v>
                </c:pt>
                <c:pt idx="1">
                  <c:v>0.680732</c:v>
                </c:pt>
                <c:pt idx="2">
                  <c:v>0.279252</c:v>
                </c:pt>
                <c:pt idx="3">
                  <c:v>1.430997</c:v>
                </c:pt>
                <c:pt idx="4">
                  <c:v>0.883398</c:v>
                </c:pt>
                <c:pt idx="5">
                  <c:v>4.291193</c:v>
                </c:pt>
                <c:pt idx="6">
                  <c:v>2.200156</c:v>
                </c:pt>
                <c:pt idx="7">
                  <c:v>5.561926</c:v>
                </c:pt>
                <c:pt idx="8">
                  <c:v>1.534824</c:v>
                </c:pt>
                <c:pt idx="9">
                  <c:v>2.89866</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Rating score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72768"/>
      </c:catAx>
      <c:valAx>
        <c:axId val="48672768"/>
        <c:scaling>
          <c:orientation val="minMax"/>
          <c:max val="6"/>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Number of ratings (millions)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68C8C"/>
            </a:solidFill>
          </c:spPr>
          <c:invertIfNegative val="0"/>
          <c:cat>
            <c:strRef>
              <c:f>'Chart Data'!$A$2:$A$20</c:f>
              <c:strCache>
                <c:ptCount val="19"/>
                <c:pt idx="0">
                  <c:v>Horror</c:v>
                </c:pt>
                <c:pt idx="1">
                  <c:v>Children</c:v>
                </c:pt>
                <c:pt idx="2">
                  <c:v>Comedy</c:v>
                </c:pt>
                <c:pt idx="3">
                  <c:v>Sci-Fi</c:v>
                </c:pt>
                <c:pt idx="4">
                  <c:v>Action</c:v>
                </c:pt>
                <c:pt idx="5">
                  <c:v>Adventure</c:v>
                </c:pt>
                <c:pt idx="6">
                  <c:v>Fantasy</c:v>
                </c:pt>
                <c:pt idx="7">
                  <c:v>Thriller</c:v>
                </c:pt>
                <c:pt idx="8">
                  <c:v>Romance</c:v>
                </c:pt>
                <c:pt idx="9">
                  <c:v>Musical</c:v>
                </c:pt>
                <c:pt idx="10">
                  <c:v>Western</c:v>
                </c:pt>
                <c:pt idx="11">
                  <c:v>Animation</c:v>
                </c:pt>
                <c:pt idx="12">
                  <c:v>IMAX</c:v>
                </c:pt>
                <c:pt idx="13">
                  <c:v>Mystery</c:v>
                </c:pt>
                <c:pt idx="14">
                  <c:v>Drama</c:v>
                </c:pt>
                <c:pt idx="15">
                  <c:v>Crime</c:v>
                </c:pt>
                <c:pt idx="16">
                  <c:v>Documentary</c:v>
                </c:pt>
                <c:pt idx="17">
                  <c:v>War</c:v>
                </c:pt>
                <c:pt idx="18">
                  <c:v>Film-Noir</c:v>
                </c:pt>
              </c:strCache>
            </c:strRef>
          </c:cat>
          <c:val>
            <c:numRef>
              <c:f>'Chart Data'!$B$2:$B$20</c:f>
              <c:numCache>
                <c:formatCode>General</c:formatCode>
                <c:ptCount val="19"/>
                <c:pt idx="0">
                  <c:v>3.2772</c:v>
                </c:pt>
                <c:pt idx="1">
                  <c:v>3.4081</c:v>
                </c:pt>
                <c:pt idx="2">
                  <c:v>3.426</c:v>
                </c:pt>
                <c:pt idx="3">
                  <c:v>3.4368</c:v>
                </c:pt>
                <c:pt idx="4">
                  <c:v>3.4439</c:v>
                </c:pt>
                <c:pt idx="5">
                  <c:v>3.5019</c:v>
                </c:pt>
                <c:pt idx="6">
                  <c:v>3.5059</c:v>
                </c:pt>
                <c:pt idx="7">
                  <c:v>3.5071</c:v>
                </c:pt>
                <c:pt idx="8">
                  <c:v>3.5418</c:v>
                </c:pt>
                <c:pt idx="9">
                  <c:v>3.5581</c:v>
                </c:pt>
                <c:pt idx="10">
                  <c:v>3.5705</c:v>
                </c:pt>
                <c:pt idx="11">
                  <c:v>3.6175</c:v>
                </c:pt>
                <c:pt idx="12">
                  <c:v>3.6559</c:v>
                </c:pt>
                <c:pt idx="13">
                  <c:v>3.6635</c:v>
                </c:pt>
                <c:pt idx="14">
                  <c:v>3.6743</c:v>
                </c:pt>
                <c:pt idx="15">
                  <c:v>3.6745</c:v>
                </c:pt>
                <c:pt idx="16">
                  <c:v>3.7397</c:v>
                </c:pt>
                <c:pt idx="17">
                  <c:v>3.8095</c:v>
                </c:pt>
                <c:pt idx="18">
                  <c:v>3.9654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36"/>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ptos"/>
                    <a:ea typeface="Aptos"/>
                    <a:cs typeface="Aptos"/>
                  </a:rPr>
                  <a:t>Genre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72768"/>
      </c:catAx>
      <c:valAx>
        <c:axId val="48672768"/>
        <c:scaling>
          <c:orientation val="minMax"/>
          <c:max val="5"/>
          <c:min val="0"/>
        </c:scaling>
        <c:delete val="0"/>
        <c:axPos val="b"/>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Average rating</c:v>
          </c:tx>
          <c:spPr>
            <a:ln xmlns:a="http://schemas.openxmlformats.org/drawingml/2006/main" w="28575">
              <a:solidFill>
                <a:srgbClr val="168C8C"/>
              </a:solidFill>
              <a:prstDash val="solid"/>
            </a:ln>
          </c:spPr>
          <c:marker>
            <c:symbol val="circle"/>
            <c:size val="5"/>
            <c:spPr>
              <a:solidFill xmlns:a="http://schemas.openxmlformats.org/drawingml/2006/main">
                <a:srgbClr val="168C8C"/>
              </a:solidFill>
            </c:spPr>
          </c:marker>
          <c:cat>
            <c:numRef>
              <c:f>'Chart Data'!$A$2:$A$26</c:f>
              <c:numCache>
                <c:formatCode>General</c:formatCode>
                <c:ptCount val="25"/>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numCache>
            </c:numRef>
          </c:cat>
          <c:val>
            <c:numRef>
              <c:f>'Chart Data'!$B$2:$B$26</c:f>
              <c:numCache>
                <c:formatCode>General</c:formatCode>
                <c:ptCount val="25"/>
                <c:pt idx="0">
                  <c:v>3.4097</c:v>
                </c:pt>
                <c:pt idx="1">
                  <c:v>3.5776</c:v>
                </c:pt>
                <c:pt idx="2">
                  <c:v>3.4393</c:v>
                </c:pt>
                <c:pt idx="3">
                  <c:v>3.5004</c:v>
                </c:pt>
                <c:pt idx="4">
                  <c:v>3.4865</c:v>
                </c:pt>
                <c:pt idx="5">
                  <c:v>3.4473</c:v>
                </c:pt>
                <c:pt idx="6">
                  <c:v>3.3518</c:v>
                </c:pt>
                <c:pt idx="7">
                  <c:v>3.3769</c:v>
                </c:pt>
                <c:pt idx="8">
                  <c:v>3.4295</c:v>
                </c:pt>
                <c:pt idx="9">
                  <c:v>3.4784</c:v>
                </c:pt>
                <c:pt idx="10">
                  <c:v>3.4129</c:v>
                </c:pt>
                <c:pt idx="11">
                  <c:v>3.4793</c:v>
                </c:pt>
                <c:pt idx="12">
                  <c:v>3.4702</c:v>
                </c:pt>
                <c:pt idx="13">
                  <c:v>3.4852</c:v>
                </c:pt>
                <c:pt idx="14">
                  <c:v>3.5379</c:v>
                </c:pt>
                <c:pt idx="15">
                  <c:v>3.4758</c:v>
                </c:pt>
                <c:pt idx="16">
                  <c:v>3.5672</c:v>
                </c:pt>
                <c:pt idx="17">
                  <c:v>3.5431</c:v>
                </c:pt>
                <c:pt idx="18">
                  <c:v>3.5533</c:v>
                </c:pt>
                <c:pt idx="19">
                  <c:v>3.5549</c:v>
                </c:pt>
                <c:pt idx="20">
                  <c:v>3.6007</c:v>
                </c:pt>
                <c:pt idx="21">
                  <c:v>3.5195</c:v>
                </c:pt>
                <c:pt idx="22">
                  <c:v>3.5887</c:v>
                </c:pt>
                <c:pt idx="23">
                  <c:v>3.491</c:v>
                </c:pt>
                <c:pt idx="24">
                  <c:v>3.5245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Movie release year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79"/>
                </a:solidFill>
                <a:latin typeface="Aptos"/>
                <a:ea typeface="Aptos"/>
                <a:cs typeface="Aptos"/>
              </a:defRPr>
            </a:pPr>
          </a:p>
        </c:txPr>
        <c:crossAx val="48672768"/>
      </c:catAx>
      <c:valAx>
        <c:axId val="48672768"/>
        <c:scaling>
          <c:orientation val="minMax"/>
          <c:max val="5"/>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431625-C859-49E7-90C0-737205F81019}"/>
              </a:ext>
            </a:extLst>
          </p:cNvPr>
          <p:cNvSpPr>
            <a:spLocks xmlns:a="http://schemas.openxmlformats.org/drawingml/2006/main" noGrp="1"/>
          </p:cNvSpPr>
          <p:nvPr/>
        </p:nvSpPr>
        <p:spPr>
          <a:xfrm xmlns:a="http://schemas.openxmlformats.org/drawingml/2006/main">
            <a:off x="742950" y="20002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4800" b="1">
                <a:solidFill>
                  <a:srgbClr val="FFFFFF"/>
                </a:solidFill>
                <a:latin typeface="Aptos"/>
                <a:ea typeface="Aptos"/>
                <a:cs typeface="Aptos"/>
              </a:defRPr>
            </a:defPPr>
            <a:lvl1pPr>
              <a:defRPr sz="4800" b="1">
                <a:solidFill>
                  <a:srgbClr val="FFFFFF"/>
                </a:solidFill>
                <a:latin typeface="Aptos"/>
                <a:ea typeface="Aptos"/>
                <a:cs typeface="Aptos"/>
              </a:defRPr>
            </a:lvl1pPr>
            <a:lvl2pPr>
              <a:defRPr sz="4800" b="1">
                <a:solidFill>
                  <a:srgbClr val="FFFFFF"/>
                </a:solidFill>
                <a:latin typeface="Aptos"/>
                <a:ea typeface="Aptos"/>
                <a:cs typeface="Aptos"/>
              </a:defRPr>
            </a:lvl2pPr>
            <a:lvl3pPr>
              <a:defRPr sz="4800" b="1">
                <a:solidFill>
                  <a:srgbClr val="FFFFFF"/>
                </a:solidFill>
                <a:latin typeface="Aptos"/>
                <a:ea typeface="Aptos"/>
                <a:cs typeface="Aptos"/>
              </a:defRPr>
            </a:lvl3pPr>
            <a:lvl4pPr>
              <a:defRPr sz="4800" b="1">
                <a:solidFill>
                  <a:srgbClr val="FFFFFF"/>
                </a:solidFill>
                <a:latin typeface="Aptos"/>
                <a:ea typeface="Aptos"/>
                <a:cs typeface="Aptos"/>
              </a:defRPr>
            </a:lvl4pPr>
            <a:lvl5pPr>
              <a:defRPr sz="4800" b="1">
                <a:solidFill>
                  <a:srgbClr val="FFFFFF"/>
                </a:solidFill>
                <a:latin typeface="Aptos"/>
                <a:ea typeface="Aptos"/>
                <a:cs typeface="Aptos"/>
              </a:defRPr>
            </a:lvl5pPr>
            <a:lvl6pPr>
              <a:defRPr sz="4800" b="1">
                <a:solidFill>
                  <a:srgbClr val="FFFFFF"/>
                </a:solidFill>
                <a:latin typeface="Aptos"/>
                <a:ea typeface="Aptos"/>
                <a:cs typeface="Aptos"/>
              </a:defRPr>
            </a:lvl6pPr>
            <a:lvl7pPr>
              <a:defRPr sz="4800" b="1">
                <a:solidFill>
                  <a:srgbClr val="FFFFFF"/>
                </a:solidFill>
                <a:latin typeface="Aptos"/>
                <a:ea typeface="Aptos"/>
                <a:cs typeface="Aptos"/>
              </a:defRPr>
            </a:lvl7pPr>
            <a:lvl8pPr>
              <a:defRPr sz="4800" b="1">
                <a:solidFill>
                  <a:srgbClr val="FFFFFF"/>
                </a:solidFill>
                <a:latin typeface="Aptos"/>
                <a:ea typeface="Aptos"/>
                <a:cs typeface="Aptos"/>
              </a:defRPr>
            </a:lvl8pPr>
            <a:lvl9pPr>
              <a:defRPr sz="4800" b="1">
                <a:solidFill>
                  <a:srgbClr val="FFFFFF"/>
                </a:solidFill>
                <a:latin typeface="Aptos"/>
                <a:ea typeface="Aptos"/>
                <a:cs typeface="Aptos"/>
              </a:defRPr>
            </a:lvl9pPr>
          </a:lstStyle>
          <a:p xmlns:a="http://schemas.openxmlformats.org/drawingml/2006/main">
            <a:pPr>
              <a:defRPr sz="4800" b="1">
                <a:solidFill>
                  <a:srgbClr val="FFFFFF"/>
                </a:solidFill>
                <a:latin typeface="Aptos"/>
                <a:ea typeface="Aptos"/>
                <a:cs typeface="Aptos"/>
              </a:defRPr>
            </a:pPr>
            <a:r>
              <a:rPr sz="4800" b="1">
                <a:solidFill>
                  <a:srgbClr val="FFFFFF"/>
                </a:solidFill>
                <a:latin typeface="Aptos"/>
                <a:ea typeface="Aptos"/>
                <a:cs typeface="Aptos"/>
              </a:rPr>
              <a:t>Movie Rating Analysis</a:t>
            </a:r>
          </a:p>
        </p:txBody>
      </p:sp>
      <p:sp>
        <p:nvSpPr>
          <p:cNvPr id="2" name="">
            <a:extLst xmlns:a="http://schemas.openxmlformats.org/drawingml/2006/main">
              <a:ext uri="{FF2B5EF4-FFF2-40B4-BE49-F238E27FC236}">
                <a16:creationId xmlns:a16="http://schemas.microsoft.com/office/drawing/2014/main" id="{B2E62C1C-57D3-4A83-884A-1DFC8222FFE3}"/>
              </a:ext>
            </a:extLst>
          </p:cNvPr>
          <p:cNvSpPr>
            <a:spLocks xmlns:a="http://schemas.openxmlformats.org/drawingml/2006/main" noGrp="1"/>
          </p:cNvSpPr>
          <p:nvPr/>
        </p:nvSpPr>
        <p:spPr>
          <a:xfrm xmlns:a="http://schemas.openxmlformats.org/drawingml/2006/main">
            <a:off x="781050" y="30765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75">
                <a:solidFill>
                  <a:srgbClr val="A8DADC"/>
                </a:solidFill>
                <a:latin typeface="Aptos"/>
                <a:ea typeface="Aptos"/>
                <a:cs typeface="Aptos"/>
              </a:defRPr>
            </a:defPPr>
            <a:lvl1pPr>
              <a:defRPr sz="2175">
                <a:solidFill>
                  <a:srgbClr val="A8DADC"/>
                </a:solidFill>
                <a:latin typeface="Aptos"/>
                <a:ea typeface="Aptos"/>
                <a:cs typeface="Aptos"/>
              </a:defRPr>
            </a:lvl1pPr>
            <a:lvl2pPr>
              <a:defRPr sz="2175">
                <a:solidFill>
                  <a:srgbClr val="A8DADC"/>
                </a:solidFill>
                <a:latin typeface="Aptos"/>
                <a:ea typeface="Aptos"/>
                <a:cs typeface="Aptos"/>
              </a:defRPr>
            </a:lvl2pPr>
            <a:lvl3pPr>
              <a:defRPr sz="2175">
                <a:solidFill>
                  <a:srgbClr val="A8DADC"/>
                </a:solidFill>
                <a:latin typeface="Aptos"/>
                <a:ea typeface="Aptos"/>
                <a:cs typeface="Aptos"/>
              </a:defRPr>
            </a:lvl3pPr>
            <a:lvl4pPr>
              <a:defRPr sz="2175">
                <a:solidFill>
                  <a:srgbClr val="A8DADC"/>
                </a:solidFill>
                <a:latin typeface="Aptos"/>
                <a:ea typeface="Aptos"/>
                <a:cs typeface="Aptos"/>
              </a:defRPr>
            </a:lvl4pPr>
            <a:lvl5pPr>
              <a:defRPr sz="2175">
                <a:solidFill>
                  <a:srgbClr val="A8DADC"/>
                </a:solidFill>
                <a:latin typeface="Aptos"/>
                <a:ea typeface="Aptos"/>
                <a:cs typeface="Aptos"/>
              </a:defRPr>
            </a:lvl5pPr>
            <a:lvl6pPr>
              <a:defRPr sz="2175">
                <a:solidFill>
                  <a:srgbClr val="A8DADC"/>
                </a:solidFill>
                <a:latin typeface="Aptos"/>
                <a:ea typeface="Aptos"/>
                <a:cs typeface="Aptos"/>
              </a:defRPr>
            </a:lvl6pPr>
            <a:lvl7pPr>
              <a:defRPr sz="2175">
                <a:solidFill>
                  <a:srgbClr val="A8DADC"/>
                </a:solidFill>
                <a:latin typeface="Aptos"/>
                <a:ea typeface="Aptos"/>
                <a:cs typeface="Aptos"/>
              </a:defRPr>
            </a:lvl7pPr>
            <a:lvl8pPr>
              <a:defRPr sz="2175">
                <a:solidFill>
                  <a:srgbClr val="A8DADC"/>
                </a:solidFill>
                <a:latin typeface="Aptos"/>
                <a:ea typeface="Aptos"/>
                <a:cs typeface="Aptos"/>
              </a:defRPr>
            </a:lvl8pPr>
            <a:lvl9pPr>
              <a:defRPr sz="2175">
                <a:solidFill>
                  <a:srgbClr val="A8DADC"/>
                </a:solidFill>
                <a:latin typeface="Aptos"/>
                <a:ea typeface="Aptos"/>
                <a:cs typeface="Aptos"/>
              </a:defRPr>
            </a:lvl9pPr>
          </a:lstStyle>
          <a:p xmlns:a="http://schemas.openxmlformats.org/drawingml/2006/main">
            <a:pPr>
              <a:defRPr sz="2175">
                <a:solidFill>
                  <a:srgbClr val="A8DADC"/>
                </a:solidFill>
                <a:latin typeface="Aptos"/>
                <a:ea typeface="Aptos"/>
                <a:cs typeface="Aptos"/>
              </a:defRPr>
            </a:pPr>
            <a:r>
              <a:rPr sz="2175">
                <a:solidFill>
                  <a:srgbClr val="A8DADC"/>
                </a:solidFill>
                <a:latin typeface="Aptos"/>
                <a:ea typeface="Aptos"/>
                <a:cs typeface="Aptos"/>
              </a:rPr>
              <a:t>MovieLens 20M  |  PySpark  |  Cassandra</a:t>
            </a:r>
          </a:p>
        </p:txBody>
      </p:sp>
      <p:sp>
        <p:nvSpPr>
          <p:cNvPr id="3" name="">
            <a:extLst xmlns:a="http://schemas.openxmlformats.org/drawingml/2006/main">
              <a:ext uri="{FF2B5EF4-FFF2-40B4-BE49-F238E27FC236}">
                <a16:creationId xmlns:a16="http://schemas.microsoft.com/office/drawing/2014/main" id="{D571C2F7-00D3-44A9-80C7-708DE6030AD2}"/>
              </a:ext>
            </a:extLst>
          </p:cNvPr>
          <p:cNvSpPr>
            <a:spLocks xmlns:a="http://schemas.openxmlformats.org/drawingml/2006/main" noGrp="1"/>
          </p:cNvSpPr>
          <p:nvPr/>
        </p:nvSpPr>
        <p:spPr>
          <a:xfrm xmlns:a="http://schemas.openxmlformats.org/drawingml/2006/main">
            <a:off x="781050" y="3857625"/>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a:solidFill>
                  <a:srgbClr val="FFFFFF"/>
                </a:solidFill>
                <a:latin typeface="Aptos"/>
                <a:ea typeface="Aptos"/>
                <a:cs typeface="Aptos"/>
              </a:defRPr>
            </a:defPPr>
            <a:lvl1pPr>
              <a:defRPr sz="1950">
                <a:solidFill>
                  <a:srgbClr val="FFFFFF"/>
                </a:solidFill>
                <a:latin typeface="Aptos"/>
                <a:ea typeface="Aptos"/>
                <a:cs typeface="Aptos"/>
              </a:defRPr>
            </a:lvl1pPr>
            <a:lvl2pPr>
              <a:defRPr sz="1950">
                <a:solidFill>
                  <a:srgbClr val="FFFFFF"/>
                </a:solidFill>
                <a:latin typeface="Aptos"/>
                <a:ea typeface="Aptos"/>
                <a:cs typeface="Aptos"/>
              </a:defRPr>
            </a:lvl2pPr>
            <a:lvl3pPr>
              <a:defRPr sz="1950">
                <a:solidFill>
                  <a:srgbClr val="FFFFFF"/>
                </a:solidFill>
                <a:latin typeface="Aptos"/>
                <a:ea typeface="Aptos"/>
                <a:cs typeface="Aptos"/>
              </a:defRPr>
            </a:lvl3pPr>
            <a:lvl4pPr>
              <a:defRPr sz="1950">
                <a:solidFill>
                  <a:srgbClr val="FFFFFF"/>
                </a:solidFill>
                <a:latin typeface="Aptos"/>
                <a:ea typeface="Aptos"/>
                <a:cs typeface="Aptos"/>
              </a:defRPr>
            </a:lvl4pPr>
            <a:lvl5pPr>
              <a:defRPr sz="1950">
                <a:solidFill>
                  <a:srgbClr val="FFFFFF"/>
                </a:solidFill>
                <a:latin typeface="Aptos"/>
                <a:ea typeface="Aptos"/>
                <a:cs typeface="Aptos"/>
              </a:defRPr>
            </a:lvl5pPr>
            <a:lvl6pPr>
              <a:defRPr sz="1950">
                <a:solidFill>
                  <a:srgbClr val="FFFFFF"/>
                </a:solidFill>
                <a:latin typeface="Aptos"/>
                <a:ea typeface="Aptos"/>
                <a:cs typeface="Aptos"/>
              </a:defRPr>
            </a:lvl6pPr>
            <a:lvl7pPr>
              <a:defRPr sz="1950">
                <a:solidFill>
                  <a:srgbClr val="FFFFFF"/>
                </a:solidFill>
                <a:latin typeface="Aptos"/>
                <a:ea typeface="Aptos"/>
                <a:cs typeface="Aptos"/>
              </a:defRPr>
            </a:lvl7pPr>
            <a:lvl8pPr>
              <a:defRPr sz="1950">
                <a:solidFill>
                  <a:srgbClr val="FFFFFF"/>
                </a:solidFill>
                <a:latin typeface="Aptos"/>
                <a:ea typeface="Aptos"/>
                <a:cs typeface="Aptos"/>
              </a:defRPr>
            </a:lvl8pPr>
            <a:lvl9pPr>
              <a:defRPr sz="1950">
                <a:solidFill>
                  <a:srgbClr val="FFFFFF"/>
                </a:solidFill>
                <a:latin typeface="Aptos"/>
                <a:ea typeface="Aptos"/>
                <a:cs typeface="Aptos"/>
              </a:defRPr>
            </a:lvl9pPr>
          </a:lstStyle>
          <a:p xmlns:a="http://schemas.openxmlformats.org/drawingml/2006/main">
            <a:pPr>
              <a:defRPr sz="1950">
                <a:solidFill>
                  <a:srgbClr val="FFFFFF"/>
                </a:solidFill>
                <a:latin typeface="Aptos"/>
                <a:ea typeface="Aptos"/>
                <a:cs typeface="Aptos"/>
              </a:defRPr>
            </a:pPr>
            <a:r>
              <a:rPr sz="1950">
                <a:solidFill>
                  <a:srgbClr val="FFFFFF"/>
                </a:solidFill>
                <a:latin typeface="Aptos"/>
                <a:ea typeface="Aptos"/>
                <a:cs typeface="Aptos"/>
              </a:rPr>
              <a:t>A data project about how people rate movies</a:t>
            </a:r>
          </a:p>
        </p:txBody>
      </p:sp>
    </p:spTree>
    <p:extLst>
      <p:ext uri="{BB962C8B-B14F-4D97-AF65-F5344CB8AC3E}">
        <p14:creationId xmlns:p14="http://schemas.microsoft.com/office/powerpoint/2010/main" val="621958427"/>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7BF2D-6647-4B84-B52B-006F49D46589}"/>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Project goal</a:t>
            </a:r>
          </a:p>
        </p:txBody>
      </p:sp>
      <p:sp>
        <p:nvSpPr>
          <p:cNvPr id="2" name="">
            <a:extLst xmlns:a="http://schemas.openxmlformats.org/drawingml/2006/main">
              <a:ext uri="{FF2B5EF4-FFF2-40B4-BE49-F238E27FC236}">
                <a16:creationId xmlns:a16="http://schemas.microsoft.com/office/drawing/2014/main" id="{D551E4C6-9FE5-4803-8914-FD620E7CB17E}"/>
              </a:ext>
            </a:extLst>
          </p:cNvPr>
          <p:cNvSpPr>
            <a:spLocks xmlns:a="http://schemas.openxmlformats.org/drawingml/2006/main" noGrp="1"/>
          </p:cNvSpPr>
          <p:nvPr/>
        </p:nvSpPr>
        <p:spPr>
          <a:xfrm xmlns:a="http://schemas.openxmlformats.org/drawingml/2006/main">
            <a:off x="704850" y="142875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68C8C"/>
                </a:solidFill>
                <a:latin typeface="Aptos"/>
                <a:ea typeface="Aptos"/>
                <a:cs typeface="Aptos"/>
              </a:defRPr>
            </a:defPPr>
            <a:lvl1pPr>
              <a:defRPr sz="3000" b="1">
                <a:solidFill>
                  <a:srgbClr val="168C8C"/>
                </a:solidFill>
                <a:latin typeface="Aptos"/>
                <a:ea typeface="Aptos"/>
                <a:cs typeface="Aptos"/>
              </a:defRPr>
            </a:lvl1pPr>
            <a:lvl2pPr>
              <a:defRPr sz="3000" b="1">
                <a:solidFill>
                  <a:srgbClr val="168C8C"/>
                </a:solidFill>
                <a:latin typeface="Aptos"/>
                <a:ea typeface="Aptos"/>
                <a:cs typeface="Aptos"/>
              </a:defRPr>
            </a:lvl2pPr>
            <a:lvl3pPr>
              <a:defRPr sz="3000" b="1">
                <a:solidFill>
                  <a:srgbClr val="168C8C"/>
                </a:solidFill>
                <a:latin typeface="Aptos"/>
                <a:ea typeface="Aptos"/>
                <a:cs typeface="Aptos"/>
              </a:defRPr>
            </a:lvl3pPr>
            <a:lvl4pPr>
              <a:defRPr sz="3000" b="1">
                <a:solidFill>
                  <a:srgbClr val="168C8C"/>
                </a:solidFill>
                <a:latin typeface="Aptos"/>
                <a:ea typeface="Aptos"/>
                <a:cs typeface="Aptos"/>
              </a:defRPr>
            </a:lvl4pPr>
            <a:lvl5pPr>
              <a:defRPr sz="3000" b="1">
                <a:solidFill>
                  <a:srgbClr val="168C8C"/>
                </a:solidFill>
                <a:latin typeface="Aptos"/>
                <a:ea typeface="Aptos"/>
                <a:cs typeface="Aptos"/>
              </a:defRPr>
            </a:lvl5pPr>
            <a:lvl6pPr>
              <a:defRPr sz="3000" b="1">
                <a:solidFill>
                  <a:srgbClr val="168C8C"/>
                </a:solidFill>
                <a:latin typeface="Aptos"/>
                <a:ea typeface="Aptos"/>
                <a:cs typeface="Aptos"/>
              </a:defRPr>
            </a:lvl6pPr>
            <a:lvl7pPr>
              <a:defRPr sz="3000" b="1">
                <a:solidFill>
                  <a:srgbClr val="168C8C"/>
                </a:solidFill>
                <a:latin typeface="Aptos"/>
                <a:ea typeface="Aptos"/>
                <a:cs typeface="Aptos"/>
              </a:defRPr>
            </a:lvl7pPr>
            <a:lvl8pPr>
              <a:defRPr sz="3000" b="1">
                <a:solidFill>
                  <a:srgbClr val="168C8C"/>
                </a:solidFill>
                <a:latin typeface="Aptos"/>
                <a:ea typeface="Aptos"/>
                <a:cs typeface="Aptos"/>
              </a:defRPr>
            </a:lvl8pPr>
            <a:lvl9pPr>
              <a:defRPr sz="3000" b="1">
                <a:solidFill>
                  <a:srgbClr val="168C8C"/>
                </a:solidFill>
                <a:latin typeface="Aptos"/>
                <a:ea typeface="Aptos"/>
                <a:cs typeface="Aptos"/>
              </a:defRPr>
            </a:lvl9pPr>
          </a:lstStyle>
          <a:p xmlns:a="http://schemas.openxmlformats.org/drawingml/2006/main">
            <a:pPr>
              <a:defRPr sz="3000" b="1">
                <a:solidFill>
                  <a:srgbClr val="168C8C"/>
                </a:solidFill>
                <a:latin typeface="Aptos"/>
                <a:ea typeface="Aptos"/>
                <a:cs typeface="Aptos"/>
              </a:defRPr>
            </a:pPr>
            <a:r>
              <a:rPr sz="3000" b="1">
                <a:solidFill>
                  <a:srgbClr val="168C8C"/>
                </a:solidFill>
                <a:latin typeface="Aptos"/>
                <a:ea typeface="Aptos"/>
                <a:cs typeface="Aptos"/>
              </a:rPr>
              <a:t>How can we summarize more than 20 million movie ratings?</a:t>
            </a:r>
          </a:p>
        </p:txBody>
      </p:sp>
      <p:sp>
        <p:nvSpPr>
          <p:cNvPr id="3" name="">
            <a:extLst xmlns:a="http://schemas.openxmlformats.org/drawingml/2006/main">
              <a:ext uri="{FF2B5EF4-FFF2-40B4-BE49-F238E27FC236}">
                <a16:creationId xmlns:a16="http://schemas.microsoft.com/office/drawing/2014/main" id="{B48B9F2F-5329-4B75-BB01-057CEF0BD639}"/>
              </a:ext>
            </a:extLst>
          </p:cNvPr>
          <p:cNvSpPr>
            <a:spLocks xmlns:a="http://schemas.openxmlformats.org/drawingml/2006/main" noGrp="1"/>
          </p:cNvSpPr>
          <p:nvPr/>
        </p:nvSpPr>
        <p:spPr>
          <a:xfrm xmlns:a="http://schemas.openxmlformats.org/drawingml/2006/main">
            <a:off x="723900" y="27051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b="1">
                <a:solidFill>
                  <a:srgbClr val="17324D"/>
                </a:solidFill>
                <a:latin typeface="Aptos"/>
                <a:ea typeface="Aptos"/>
                <a:cs typeface="Aptos"/>
              </a:defRPr>
            </a:defPPr>
            <a:lvl1pPr>
              <a:defRPr sz="1950" b="1">
                <a:solidFill>
                  <a:srgbClr val="17324D"/>
                </a:solidFill>
                <a:latin typeface="Aptos"/>
                <a:ea typeface="Aptos"/>
                <a:cs typeface="Aptos"/>
              </a:defRPr>
            </a:lvl1pPr>
            <a:lvl2pPr>
              <a:defRPr sz="1950" b="1">
                <a:solidFill>
                  <a:srgbClr val="17324D"/>
                </a:solidFill>
                <a:latin typeface="Aptos"/>
                <a:ea typeface="Aptos"/>
                <a:cs typeface="Aptos"/>
              </a:defRPr>
            </a:lvl2pPr>
            <a:lvl3pPr>
              <a:defRPr sz="1950" b="1">
                <a:solidFill>
                  <a:srgbClr val="17324D"/>
                </a:solidFill>
                <a:latin typeface="Aptos"/>
                <a:ea typeface="Aptos"/>
                <a:cs typeface="Aptos"/>
              </a:defRPr>
            </a:lvl3pPr>
            <a:lvl4pPr>
              <a:defRPr sz="1950" b="1">
                <a:solidFill>
                  <a:srgbClr val="17324D"/>
                </a:solidFill>
                <a:latin typeface="Aptos"/>
                <a:ea typeface="Aptos"/>
                <a:cs typeface="Aptos"/>
              </a:defRPr>
            </a:lvl4pPr>
            <a:lvl5pPr>
              <a:defRPr sz="1950" b="1">
                <a:solidFill>
                  <a:srgbClr val="17324D"/>
                </a:solidFill>
                <a:latin typeface="Aptos"/>
                <a:ea typeface="Aptos"/>
                <a:cs typeface="Aptos"/>
              </a:defRPr>
            </a:lvl5pPr>
            <a:lvl6pPr>
              <a:defRPr sz="1950" b="1">
                <a:solidFill>
                  <a:srgbClr val="17324D"/>
                </a:solidFill>
                <a:latin typeface="Aptos"/>
                <a:ea typeface="Aptos"/>
                <a:cs typeface="Aptos"/>
              </a:defRPr>
            </a:lvl6pPr>
            <a:lvl7pPr>
              <a:defRPr sz="1950" b="1">
                <a:solidFill>
                  <a:srgbClr val="17324D"/>
                </a:solidFill>
                <a:latin typeface="Aptos"/>
                <a:ea typeface="Aptos"/>
                <a:cs typeface="Aptos"/>
              </a:defRPr>
            </a:lvl7pPr>
            <a:lvl8pPr>
              <a:defRPr sz="1950" b="1">
                <a:solidFill>
                  <a:srgbClr val="17324D"/>
                </a:solidFill>
                <a:latin typeface="Aptos"/>
                <a:ea typeface="Aptos"/>
                <a:cs typeface="Aptos"/>
              </a:defRPr>
            </a:lvl8pPr>
            <a:lvl9pPr>
              <a:defRPr sz="1950" b="1">
                <a:solidFill>
                  <a:srgbClr val="17324D"/>
                </a:solidFill>
                <a:latin typeface="Aptos"/>
                <a:ea typeface="Aptos"/>
                <a:cs typeface="Aptos"/>
              </a:defRPr>
            </a:lvl9pPr>
          </a:lstStyle>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I calculated four views of the data:</a:t>
            </a:r>
          </a:p>
        </p:txBody>
      </p:sp>
      <p:sp>
        <p:nvSpPr>
          <p:cNvPr id="4" name="">
            <a:extLst xmlns:a="http://schemas.openxmlformats.org/drawingml/2006/main">
              <a:ext uri="{FF2B5EF4-FFF2-40B4-BE49-F238E27FC236}">
                <a16:creationId xmlns:a16="http://schemas.microsoft.com/office/drawing/2014/main" id="{BF4B93F5-FDF2-4A5D-9EEB-5121EB03BC1C}"/>
              </a:ext>
            </a:extLst>
          </p:cNvPr>
          <p:cNvSpPr>
            <a:spLocks xmlns:a="http://schemas.openxmlformats.org/drawingml/2006/main" noGrp="1"/>
          </p:cNvSpPr>
          <p:nvPr/>
        </p:nvSpPr>
        <p:spPr>
          <a:xfrm xmlns:a="http://schemas.openxmlformats.org/drawingml/2006/main">
            <a:off x="876300" y="327660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a:solidFill>
                  <a:srgbClr val="17324D"/>
                </a:solidFill>
                <a:latin typeface="Aptos"/>
                <a:ea typeface="Aptos"/>
                <a:cs typeface="Aptos"/>
              </a:defRPr>
            </a:defPPr>
            <a:lvl1pPr>
              <a:defRPr sz="2025">
                <a:solidFill>
                  <a:srgbClr val="17324D"/>
                </a:solidFill>
                <a:latin typeface="Aptos"/>
                <a:ea typeface="Aptos"/>
                <a:cs typeface="Aptos"/>
              </a:defRPr>
            </a:lvl1pPr>
            <a:lvl2pPr>
              <a:defRPr sz="2025">
                <a:solidFill>
                  <a:srgbClr val="17324D"/>
                </a:solidFill>
                <a:latin typeface="Aptos"/>
                <a:ea typeface="Aptos"/>
                <a:cs typeface="Aptos"/>
              </a:defRPr>
            </a:lvl2pPr>
            <a:lvl3pPr>
              <a:defRPr sz="2025">
                <a:solidFill>
                  <a:srgbClr val="17324D"/>
                </a:solidFill>
                <a:latin typeface="Aptos"/>
                <a:ea typeface="Aptos"/>
                <a:cs typeface="Aptos"/>
              </a:defRPr>
            </a:lvl3pPr>
            <a:lvl4pPr>
              <a:defRPr sz="2025">
                <a:solidFill>
                  <a:srgbClr val="17324D"/>
                </a:solidFill>
                <a:latin typeface="Aptos"/>
                <a:ea typeface="Aptos"/>
                <a:cs typeface="Aptos"/>
              </a:defRPr>
            </a:lvl4pPr>
            <a:lvl5pPr>
              <a:defRPr sz="2025">
                <a:solidFill>
                  <a:srgbClr val="17324D"/>
                </a:solidFill>
                <a:latin typeface="Aptos"/>
                <a:ea typeface="Aptos"/>
                <a:cs typeface="Aptos"/>
              </a:defRPr>
            </a:lvl5pPr>
            <a:lvl6pPr>
              <a:defRPr sz="2025">
                <a:solidFill>
                  <a:srgbClr val="17324D"/>
                </a:solidFill>
                <a:latin typeface="Aptos"/>
                <a:ea typeface="Aptos"/>
                <a:cs typeface="Aptos"/>
              </a:defRPr>
            </a:lvl6pPr>
            <a:lvl7pPr>
              <a:defRPr sz="2025">
                <a:solidFill>
                  <a:srgbClr val="17324D"/>
                </a:solidFill>
                <a:latin typeface="Aptos"/>
                <a:ea typeface="Aptos"/>
                <a:cs typeface="Aptos"/>
              </a:defRPr>
            </a:lvl7pPr>
            <a:lvl8pPr>
              <a:defRPr sz="2025">
                <a:solidFill>
                  <a:srgbClr val="17324D"/>
                </a:solidFill>
                <a:latin typeface="Aptos"/>
                <a:ea typeface="Aptos"/>
                <a:cs typeface="Aptos"/>
              </a:defRPr>
            </a:lvl8pPr>
            <a:lvl9pPr>
              <a:defRPr sz="2025">
                <a:solidFill>
                  <a:srgbClr val="17324D"/>
                </a:solidFill>
                <a:latin typeface="Aptos"/>
                <a:ea typeface="Aptos"/>
                <a:cs typeface="Aptos"/>
              </a:defRPr>
            </a:lvl9pPr>
          </a:lstStyle>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for each movie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count for each genre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How often each score appears</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by release year</a:t>
            </a:r>
          </a:p>
        </p:txBody>
      </p:sp>
    </p:spTree>
    <p:extLst>
      <p:ext uri="{BB962C8B-B14F-4D97-AF65-F5344CB8AC3E}">
        <p14:creationId xmlns:p14="http://schemas.microsoft.com/office/powerpoint/2010/main" val="910921296"/>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CAEBDF-A17E-4ACD-8709-2668DD189E42}"/>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Dataset</a:t>
            </a:r>
          </a:p>
        </p:txBody>
      </p:sp>
      <p:sp>
        <p:nvSpPr>
          <p:cNvPr id="2" name="">
            <a:extLst xmlns:a="http://schemas.openxmlformats.org/drawingml/2006/main">
              <a:ext uri="{FF2B5EF4-FFF2-40B4-BE49-F238E27FC236}">
                <a16:creationId xmlns:a16="http://schemas.microsoft.com/office/drawing/2014/main" id="{4E2E3B95-0A90-4C01-A5A5-CF404DFB98DC}"/>
              </a:ext>
            </a:extLst>
          </p:cNvPr>
          <p:cNvSpPr>
            <a:spLocks xmlns:a="http://schemas.openxmlformats.org/drawingml/2006/main" noGrp="1"/>
          </p:cNvSpPr>
          <p:nvPr/>
        </p:nvSpPr>
        <p:spPr>
          <a:xfrm xmlns:a="http://schemas.openxmlformats.org/drawingml/2006/main">
            <a:off x="7429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20,000,263</a:t>
            </a:r>
          </a:p>
        </p:txBody>
      </p:sp>
      <p:sp>
        <p:nvSpPr>
          <p:cNvPr id="3" name="">
            <a:extLst xmlns:a="http://schemas.openxmlformats.org/drawingml/2006/main">
              <a:ext uri="{FF2B5EF4-FFF2-40B4-BE49-F238E27FC236}">
                <a16:creationId xmlns:a16="http://schemas.microsoft.com/office/drawing/2014/main" id="{6CD9D594-9BC8-49AC-95C8-3C7A1614C503}"/>
              </a:ext>
            </a:extLst>
          </p:cNvPr>
          <p:cNvSpPr>
            <a:spLocks xmlns:a="http://schemas.openxmlformats.org/drawingml/2006/main" noGrp="1"/>
          </p:cNvSpPr>
          <p:nvPr/>
        </p:nvSpPr>
        <p:spPr>
          <a:xfrm xmlns:a="http://schemas.openxmlformats.org/drawingml/2006/main">
            <a:off x="7429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ratings in rating.csv</a:t>
            </a:r>
          </a:p>
        </p:txBody>
      </p:sp>
      <p:sp>
        <p:nvSpPr>
          <p:cNvPr id="4" name="">
            <a:extLst xmlns:a="http://schemas.openxmlformats.org/drawingml/2006/main">
              <a:ext uri="{FF2B5EF4-FFF2-40B4-BE49-F238E27FC236}">
                <a16:creationId xmlns:a16="http://schemas.microsoft.com/office/drawing/2014/main" id="{5FD2B3AD-D9A3-433E-B86E-B64875373798}"/>
              </a:ext>
            </a:extLst>
          </p:cNvPr>
          <p:cNvSpPr>
            <a:spLocks xmlns:a="http://schemas.openxmlformats.org/drawingml/2006/main" noGrp="1"/>
          </p:cNvSpPr>
          <p:nvPr/>
        </p:nvSpPr>
        <p:spPr>
          <a:xfrm xmlns:a="http://schemas.openxmlformats.org/drawingml/2006/main">
            <a:off x="4429125"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27,278</a:t>
            </a:r>
          </a:p>
        </p:txBody>
      </p:sp>
      <p:sp>
        <p:nvSpPr>
          <p:cNvPr id="5" name="">
            <a:extLst xmlns:a="http://schemas.openxmlformats.org/drawingml/2006/main">
              <a:ext uri="{FF2B5EF4-FFF2-40B4-BE49-F238E27FC236}">
                <a16:creationId xmlns:a16="http://schemas.microsoft.com/office/drawing/2014/main" id="{E24B18A9-48C6-4B0B-A1F3-4700A4FA02BE}"/>
              </a:ext>
            </a:extLst>
          </p:cNvPr>
          <p:cNvSpPr>
            <a:spLocks xmlns:a="http://schemas.openxmlformats.org/drawingml/2006/main" noGrp="1"/>
          </p:cNvSpPr>
          <p:nvPr/>
        </p:nvSpPr>
        <p:spPr>
          <a:xfrm xmlns:a="http://schemas.openxmlformats.org/drawingml/2006/main">
            <a:off x="4429125"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movies in movie.csv</a:t>
            </a:r>
          </a:p>
        </p:txBody>
      </p:sp>
      <p:sp>
        <p:nvSpPr>
          <p:cNvPr id="6" name="">
            <a:extLst xmlns:a="http://schemas.openxmlformats.org/drawingml/2006/main">
              <a:ext uri="{FF2B5EF4-FFF2-40B4-BE49-F238E27FC236}">
                <a16:creationId xmlns:a16="http://schemas.microsoft.com/office/drawing/2014/main" id="{BE1A2D2A-7741-4424-8EB5-DE98417FC839}"/>
              </a:ext>
            </a:extLst>
          </p:cNvPr>
          <p:cNvSpPr>
            <a:spLocks xmlns:a="http://schemas.openxmlformats.org/drawingml/2006/main" noGrp="1"/>
          </p:cNvSpPr>
          <p:nvPr/>
        </p:nvSpPr>
        <p:spPr>
          <a:xfrm xmlns:a="http://schemas.openxmlformats.org/drawingml/2006/main">
            <a:off x="80962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0.5 to 5.0</a:t>
            </a:r>
          </a:p>
        </p:txBody>
      </p:sp>
      <p:sp>
        <p:nvSpPr>
          <p:cNvPr id="7" name="">
            <a:extLst xmlns:a="http://schemas.openxmlformats.org/drawingml/2006/main">
              <a:ext uri="{FF2B5EF4-FFF2-40B4-BE49-F238E27FC236}">
                <a16:creationId xmlns:a16="http://schemas.microsoft.com/office/drawing/2014/main" id="{7DD3AAF3-B08A-4347-9A07-0342957A2248}"/>
              </a:ext>
            </a:extLst>
          </p:cNvPr>
          <p:cNvSpPr>
            <a:spLocks xmlns:a="http://schemas.openxmlformats.org/drawingml/2006/main" noGrp="1"/>
          </p:cNvSpPr>
          <p:nvPr/>
        </p:nvSpPr>
        <p:spPr>
          <a:xfrm xmlns:a="http://schemas.openxmlformats.org/drawingml/2006/main">
            <a:off x="80962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 scale</a:t>
            </a:r>
          </a:p>
        </p:txBody>
      </p:sp>
      <p:sp>
        <p:nvSpPr>
          <p:cNvPr id="8" name="">
            <a:extLst xmlns:a="http://schemas.openxmlformats.org/drawingml/2006/main">
              <a:ext uri="{FF2B5EF4-FFF2-40B4-BE49-F238E27FC236}">
                <a16:creationId xmlns:a16="http://schemas.microsoft.com/office/drawing/2014/main" id="{180D3720-227C-4CE5-9A9E-8B32C44CA1A9}"/>
              </a:ext>
            </a:extLst>
          </p:cNvPr>
          <p:cNvSpPr>
            <a:spLocks xmlns:a="http://schemas.openxmlformats.org/drawingml/2006/main" noGrp="1"/>
          </p:cNvSpPr>
          <p:nvPr/>
        </p:nvSpPr>
        <p:spPr>
          <a:xfrm xmlns:a="http://schemas.openxmlformats.org/drawingml/2006/main">
            <a:off x="742950" y="338137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7324D"/>
                </a:solidFill>
                <a:latin typeface="Aptos"/>
                <a:ea typeface="Aptos"/>
                <a:cs typeface="Aptos"/>
              </a:defRPr>
            </a:defPPr>
            <a:lvl1pPr>
              <a:defRPr sz="2025" b="1">
                <a:solidFill>
                  <a:srgbClr val="17324D"/>
                </a:solidFill>
                <a:latin typeface="Aptos"/>
                <a:ea typeface="Aptos"/>
                <a:cs typeface="Aptos"/>
              </a:defRPr>
            </a:lvl1pPr>
            <a:lvl2pPr>
              <a:defRPr sz="2025" b="1">
                <a:solidFill>
                  <a:srgbClr val="17324D"/>
                </a:solidFill>
                <a:latin typeface="Aptos"/>
                <a:ea typeface="Aptos"/>
                <a:cs typeface="Aptos"/>
              </a:defRPr>
            </a:lvl2pPr>
            <a:lvl3pPr>
              <a:defRPr sz="2025" b="1">
                <a:solidFill>
                  <a:srgbClr val="17324D"/>
                </a:solidFill>
                <a:latin typeface="Aptos"/>
                <a:ea typeface="Aptos"/>
                <a:cs typeface="Aptos"/>
              </a:defRPr>
            </a:lvl3pPr>
            <a:lvl4pPr>
              <a:defRPr sz="2025" b="1">
                <a:solidFill>
                  <a:srgbClr val="17324D"/>
                </a:solidFill>
                <a:latin typeface="Aptos"/>
                <a:ea typeface="Aptos"/>
                <a:cs typeface="Aptos"/>
              </a:defRPr>
            </a:lvl4pPr>
            <a:lvl5pPr>
              <a:defRPr sz="2025" b="1">
                <a:solidFill>
                  <a:srgbClr val="17324D"/>
                </a:solidFill>
                <a:latin typeface="Aptos"/>
                <a:ea typeface="Aptos"/>
                <a:cs typeface="Aptos"/>
              </a:defRPr>
            </a:lvl5pPr>
            <a:lvl6pPr>
              <a:defRPr sz="2025" b="1">
                <a:solidFill>
                  <a:srgbClr val="17324D"/>
                </a:solidFill>
                <a:latin typeface="Aptos"/>
                <a:ea typeface="Aptos"/>
                <a:cs typeface="Aptos"/>
              </a:defRPr>
            </a:lvl6pPr>
            <a:lvl7pPr>
              <a:defRPr sz="2025" b="1">
                <a:solidFill>
                  <a:srgbClr val="17324D"/>
                </a:solidFill>
                <a:latin typeface="Aptos"/>
                <a:ea typeface="Aptos"/>
                <a:cs typeface="Aptos"/>
              </a:defRPr>
            </a:lvl7pPr>
            <a:lvl8pPr>
              <a:defRPr sz="2025" b="1">
                <a:solidFill>
                  <a:srgbClr val="17324D"/>
                </a:solidFill>
                <a:latin typeface="Aptos"/>
                <a:ea typeface="Aptos"/>
                <a:cs typeface="Aptos"/>
              </a:defRPr>
            </a:lvl8pPr>
            <a:lvl9pPr>
              <a:defRPr sz="2025" b="1">
                <a:solidFill>
                  <a:srgbClr val="17324D"/>
                </a:solidFill>
                <a:latin typeface="Aptos"/>
                <a:ea typeface="Aptos"/>
                <a:cs typeface="Aptos"/>
              </a:defRPr>
            </a:lvl9pPr>
          </a:lstStyle>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Rating records include a user, a movie, a score, and a timestamp.</a:t>
            </a:r>
          </a:p>
        </p:txBody>
      </p:sp>
      <p:sp>
        <p:nvSpPr>
          <p:cNvPr id="9" name="">
            <a:extLst xmlns:a="http://schemas.openxmlformats.org/drawingml/2006/main">
              <a:ext uri="{FF2B5EF4-FFF2-40B4-BE49-F238E27FC236}">
                <a16:creationId xmlns:a16="http://schemas.microsoft.com/office/drawing/2014/main" id="{F19BD5BF-A660-427A-8628-C95F6E6ACFC6}"/>
              </a:ext>
            </a:extLst>
          </p:cNvPr>
          <p:cNvSpPr>
            <a:spLocks xmlns:a="http://schemas.openxmlformats.org/drawingml/2006/main" noGrp="1"/>
          </p:cNvSpPr>
          <p:nvPr/>
        </p:nvSpPr>
        <p:spPr>
          <a:xfrm xmlns:a="http://schemas.openxmlformats.org/drawingml/2006/main">
            <a:off x="742950" y="40671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526779"/>
                </a:solidFill>
                <a:latin typeface="Aptos"/>
                <a:ea typeface="Aptos"/>
                <a:cs typeface="Aptos"/>
              </a:defRPr>
            </a:defPPr>
            <a:lvl1pPr>
              <a:defRPr sz="1875">
                <a:solidFill>
                  <a:srgbClr val="526779"/>
                </a:solidFill>
                <a:latin typeface="Aptos"/>
                <a:ea typeface="Aptos"/>
                <a:cs typeface="Aptos"/>
              </a:defRPr>
            </a:lvl1pPr>
            <a:lvl2pPr>
              <a:defRPr sz="1875">
                <a:solidFill>
                  <a:srgbClr val="526779"/>
                </a:solidFill>
                <a:latin typeface="Aptos"/>
                <a:ea typeface="Aptos"/>
                <a:cs typeface="Aptos"/>
              </a:defRPr>
            </a:lvl2pPr>
            <a:lvl3pPr>
              <a:defRPr sz="1875">
                <a:solidFill>
                  <a:srgbClr val="526779"/>
                </a:solidFill>
                <a:latin typeface="Aptos"/>
                <a:ea typeface="Aptos"/>
                <a:cs typeface="Aptos"/>
              </a:defRPr>
            </a:lvl3pPr>
            <a:lvl4pPr>
              <a:defRPr sz="1875">
                <a:solidFill>
                  <a:srgbClr val="526779"/>
                </a:solidFill>
                <a:latin typeface="Aptos"/>
                <a:ea typeface="Aptos"/>
                <a:cs typeface="Aptos"/>
              </a:defRPr>
            </a:lvl4pPr>
            <a:lvl5pPr>
              <a:defRPr sz="1875">
                <a:solidFill>
                  <a:srgbClr val="526779"/>
                </a:solidFill>
                <a:latin typeface="Aptos"/>
                <a:ea typeface="Aptos"/>
                <a:cs typeface="Aptos"/>
              </a:defRPr>
            </a:lvl5pPr>
            <a:lvl6pPr>
              <a:defRPr sz="1875">
                <a:solidFill>
                  <a:srgbClr val="526779"/>
                </a:solidFill>
                <a:latin typeface="Aptos"/>
                <a:ea typeface="Aptos"/>
                <a:cs typeface="Aptos"/>
              </a:defRPr>
            </a:lvl6pPr>
            <a:lvl7pPr>
              <a:defRPr sz="1875">
                <a:solidFill>
                  <a:srgbClr val="526779"/>
                </a:solidFill>
                <a:latin typeface="Aptos"/>
                <a:ea typeface="Aptos"/>
                <a:cs typeface="Aptos"/>
              </a:defRPr>
            </a:lvl7pPr>
            <a:lvl8pPr>
              <a:defRPr sz="1875">
                <a:solidFill>
                  <a:srgbClr val="526779"/>
                </a:solidFill>
                <a:latin typeface="Aptos"/>
                <a:ea typeface="Aptos"/>
                <a:cs typeface="Aptos"/>
              </a:defRPr>
            </a:lvl8pPr>
            <a:lvl9pPr>
              <a:defRPr sz="1875">
                <a:solidFill>
                  <a:srgbClr val="526779"/>
                </a:solidFill>
                <a:latin typeface="Aptos"/>
                <a:ea typeface="Aptos"/>
                <a:cs typeface="Aptos"/>
              </a:defRPr>
            </a:lvl9pPr>
          </a:lstStyle>
          <a:p xmlns:a="http://schemas.openxmlformats.org/drawingml/2006/main">
            <a:pPr>
              <a:defRPr sz="1875">
                <a:solidFill>
                  <a:srgbClr val="526779"/>
                </a:solidFill>
                <a:latin typeface="Aptos"/>
                <a:ea typeface="Aptos"/>
                <a:cs typeface="Aptos"/>
              </a:defRPr>
            </a:pPr>
            <a:r>
              <a:rPr sz="1875">
                <a:solidFill>
                  <a:srgbClr val="526779"/>
                </a:solidFill>
                <a:latin typeface="Aptos"/>
                <a:ea typeface="Aptos"/>
                <a:cs typeface="Aptos"/>
              </a:rPr>
              <a:t>Movie records add each title and its genre labels. The dataset contains 19 listed genres.</a:t>
            </a:r>
          </a:p>
        </p:txBody>
      </p:sp>
    </p:spTree>
    <p:extLst>
      <p:ext uri="{BB962C8B-B14F-4D97-AF65-F5344CB8AC3E}">
        <p14:creationId xmlns:p14="http://schemas.microsoft.com/office/powerpoint/2010/main" val="1060859736"/>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3A09C9-9739-432B-B3D2-7DC0C09C9207}"/>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Analysis workflow</a:t>
            </a:r>
          </a:p>
        </p:txBody>
      </p:sp>
      <p:sp>
        <p:nvSpPr>
          <p:cNvPr id="2" name="">
            <a:extLst xmlns:a="http://schemas.openxmlformats.org/drawingml/2006/main">
              <a:ext uri="{FF2B5EF4-FFF2-40B4-BE49-F238E27FC236}">
                <a16:creationId xmlns:a16="http://schemas.microsoft.com/office/drawing/2014/main" id="{B7F30AA3-31D5-4177-9A99-76903EFAA8D7}"/>
              </a:ext>
            </a:extLst>
          </p:cNvPr>
          <p:cNvSpPr>
            <a:spLocks xmlns:a="http://schemas.openxmlformats.org/drawingml/2006/main" noGrp="1"/>
          </p:cNvSpPr>
          <p:nvPr/>
        </p:nvSpPr>
        <p:spPr>
          <a:xfrm xmlns:a="http://schemas.openxmlformats.org/drawingml/2006/main">
            <a:off x="781050" y="1409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49BC3BDA-18C1-4F78-8824-9D95E1D0CDB9}"/>
              </a:ext>
            </a:extLst>
          </p:cNvPr>
          <p:cNvSpPr>
            <a:spLocks xmlns:a="http://schemas.openxmlformats.org/drawingml/2006/main" noGrp="1"/>
          </p:cNvSpPr>
          <p:nvPr/>
        </p:nvSpPr>
        <p:spPr>
          <a:xfrm xmlns:a="http://schemas.openxmlformats.org/drawingml/2006/main">
            <a:off x="1790700" y="1409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Read the CSV files</a:t>
            </a:r>
          </a:p>
        </p:txBody>
      </p:sp>
      <p:sp>
        <p:nvSpPr>
          <p:cNvPr id="4" name="">
            <a:extLst xmlns:a="http://schemas.openxmlformats.org/drawingml/2006/main">
              <a:ext uri="{FF2B5EF4-FFF2-40B4-BE49-F238E27FC236}">
                <a16:creationId xmlns:a16="http://schemas.microsoft.com/office/drawing/2014/main" id="{32D9B1D9-D59F-4211-8E12-B4074CE59A7B}"/>
              </a:ext>
            </a:extLst>
          </p:cNvPr>
          <p:cNvSpPr>
            <a:spLocks xmlns:a="http://schemas.openxmlformats.org/drawingml/2006/main" noGrp="1"/>
          </p:cNvSpPr>
          <p:nvPr/>
        </p:nvSpPr>
        <p:spPr>
          <a:xfrm xmlns:a="http://schemas.openxmlformats.org/drawingml/2006/main">
            <a:off x="5791200" y="1428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Spark reads movie details and ratings.</a:t>
            </a:r>
          </a:p>
        </p:txBody>
      </p:sp>
      <p:sp>
        <p:nvSpPr>
          <p:cNvPr id="5" name="">
            <a:extLst xmlns:a="http://schemas.openxmlformats.org/drawingml/2006/main">
              <a:ext uri="{FF2B5EF4-FFF2-40B4-BE49-F238E27FC236}">
                <a16:creationId xmlns:a16="http://schemas.microsoft.com/office/drawing/2014/main" id="{EA3F84CF-DBA2-4317-8E56-5F6BC387812C}"/>
              </a:ext>
            </a:extLst>
          </p:cNvPr>
          <p:cNvSpPr>
            <a:spLocks xmlns:a="http://schemas.openxmlformats.org/drawingml/2006/main" noGrp="1"/>
          </p:cNvSpPr>
          <p:nvPr/>
        </p:nvSpPr>
        <p:spPr>
          <a:xfrm xmlns:a="http://schemas.openxmlformats.org/drawingml/2006/main">
            <a:off x="781050" y="2552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C760D794-056E-4AC6-B830-EFE73167B506}"/>
              </a:ext>
            </a:extLst>
          </p:cNvPr>
          <p:cNvSpPr>
            <a:spLocks xmlns:a="http://schemas.openxmlformats.org/drawingml/2006/main" noGrp="1"/>
          </p:cNvSpPr>
          <p:nvPr/>
        </p:nvSpPr>
        <p:spPr>
          <a:xfrm xmlns:a="http://schemas.openxmlformats.org/drawingml/2006/main">
            <a:off x="1790700" y="2552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Calculate summaries</a:t>
            </a:r>
          </a:p>
        </p:txBody>
      </p:sp>
      <p:sp>
        <p:nvSpPr>
          <p:cNvPr id="7" name="">
            <a:extLst xmlns:a="http://schemas.openxmlformats.org/drawingml/2006/main">
              <a:ext uri="{FF2B5EF4-FFF2-40B4-BE49-F238E27FC236}">
                <a16:creationId xmlns:a16="http://schemas.microsoft.com/office/drawing/2014/main" id="{75C5EAD3-52CA-4B1A-9867-B946F35F3588}"/>
              </a:ext>
            </a:extLst>
          </p:cNvPr>
          <p:cNvSpPr>
            <a:spLocks xmlns:a="http://schemas.openxmlformats.org/drawingml/2006/main" noGrp="1"/>
          </p:cNvSpPr>
          <p:nvPr/>
        </p:nvSpPr>
        <p:spPr>
          <a:xfrm xmlns:a="http://schemas.openxmlformats.org/drawingml/2006/main">
            <a:off x="5791200" y="2571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Group ratings by movie, genre, score, and year.</a:t>
            </a:r>
          </a:p>
        </p:txBody>
      </p:sp>
      <p:sp>
        <p:nvSpPr>
          <p:cNvPr id="8" name="">
            <a:extLst xmlns:a="http://schemas.openxmlformats.org/drawingml/2006/main">
              <a:ext uri="{FF2B5EF4-FFF2-40B4-BE49-F238E27FC236}">
                <a16:creationId xmlns:a16="http://schemas.microsoft.com/office/drawing/2014/main" id="{2E83A32B-FC00-4B67-A866-9C032174C3F2}"/>
              </a:ext>
            </a:extLst>
          </p:cNvPr>
          <p:cNvSpPr>
            <a:spLocks xmlns:a="http://schemas.openxmlformats.org/drawingml/2006/main" noGrp="1"/>
          </p:cNvSpPr>
          <p:nvPr/>
        </p:nvSpPr>
        <p:spPr>
          <a:xfrm xmlns:a="http://schemas.openxmlformats.org/drawingml/2006/main">
            <a:off x="781050" y="3695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EEE3BF51-76E0-4492-9482-1C75CB05A0D0}"/>
              </a:ext>
            </a:extLst>
          </p:cNvPr>
          <p:cNvSpPr>
            <a:spLocks xmlns:a="http://schemas.openxmlformats.org/drawingml/2006/main" noGrp="1"/>
          </p:cNvSpPr>
          <p:nvPr/>
        </p:nvSpPr>
        <p:spPr>
          <a:xfrm xmlns:a="http://schemas.openxmlformats.org/drawingml/2006/main">
            <a:off x="1790700" y="3695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Save the results</a:t>
            </a:r>
          </a:p>
        </p:txBody>
      </p:sp>
      <p:sp>
        <p:nvSpPr>
          <p:cNvPr id="10" name="">
            <a:extLst xmlns:a="http://schemas.openxmlformats.org/drawingml/2006/main">
              <a:ext uri="{FF2B5EF4-FFF2-40B4-BE49-F238E27FC236}">
                <a16:creationId xmlns:a16="http://schemas.microsoft.com/office/drawing/2014/main" id="{317BE5DA-2747-4C54-B254-665B8AFEF732}"/>
              </a:ext>
            </a:extLst>
          </p:cNvPr>
          <p:cNvSpPr>
            <a:spLocks xmlns:a="http://schemas.openxmlformats.org/drawingml/2006/main" noGrp="1"/>
          </p:cNvSpPr>
          <p:nvPr/>
        </p:nvSpPr>
        <p:spPr>
          <a:xfrm xmlns:a="http://schemas.openxmlformats.org/drawingml/2006/main">
            <a:off x="5791200" y="3714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Export summary CSVs and insert rows into Cassandra.</a:t>
            </a:r>
          </a:p>
        </p:txBody>
      </p:sp>
      <p:sp>
        <p:nvSpPr>
          <p:cNvPr id="11" name="">
            <a:extLst xmlns:a="http://schemas.openxmlformats.org/drawingml/2006/main">
              <a:ext uri="{FF2B5EF4-FFF2-40B4-BE49-F238E27FC236}">
                <a16:creationId xmlns:a16="http://schemas.microsoft.com/office/drawing/2014/main" id="{BC268327-25BC-4F17-8BA5-DFDFEB074E2C}"/>
              </a:ext>
            </a:extLst>
          </p:cNvPr>
          <p:cNvSpPr>
            <a:spLocks xmlns:a="http://schemas.openxmlformats.org/drawingml/2006/main" noGrp="1"/>
          </p:cNvSpPr>
          <p:nvPr/>
        </p:nvSpPr>
        <p:spPr>
          <a:xfrm xmlns:a="http://schemas.openxmlformats.org/drawingml/2006/main">
            <a:off x="781050" y="4838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04</a:t>
            </a:r>
          </a:p>
        </p:txBody>
      </p:sp>
      <p:sp>
        <p:nvSpPr>
          <p:cNvPr id="12" name="">
            <a:extLst xmlns:a="http://schemas.openxmlformats.org/drawingml/2006/main">
              <a:ext uri="{FF2B5EF4-FFF2-40B4-BE49-F238E27FC236}">
                <a16:creationId xmlns:a16="http://schemas.microsoft.com/office/drawing/2014/main" id="{5B8E66AB-986E-426B-ADA5-EDE7F7E5AC76}"/>
              </a:ext>
            </a:extLst>
          </p:cNvPr>
          <p:cNvSpPr>
            <a:spLocks xmlns:a="http://schemas.openxmlformats.org/drawingml/2006/main" noGrp="1"/>
          </p:cNvSpPr>
          <p:nvPr/>
        </p:nvSpPr>
        <p:spPr>
          <a:xfrm xmlns:a="http://schemas.openxmlformats.org/drawingml/2006/main">
            <a:off x="1790700" y="4838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Check the output</a:t>
            </a:r>
          </a:p>
        </p:txBody>
      </p:sp>
      <p:sp>
        <p:nvSpPr>
          <p:cNvPr id="13" name="">
            <a:extLst xmlns:a="http://schemas.openxmlformats.org/drawingml/2006/main">
              <a:ext uri="{FF2B5EF4-FFF2-40B4-BE49-F238E27FC236}">
                <a16:creationId xmlns:a16="http://schemas.microsoft.com/office/drawing/2014/main" id="{9B8CF426-2DD5-42BE-96B9-9F99F97B29A9}"/>
              </a:ext>
            </a:extLst>
          </p:cNvPr>
          <p:cNvSpPr>
            <a:spLocks xmlns:a="http://schemas.openxmlformats.org/drawingml/2006/main" noGrp="1"/>
          </p:cNvSpPr>
          <p:nvPr/>
        </p:nvSpPr>
        <p:spPr>
          <a:xfrm xmlns:a="http://schemas.openxmlformats.org/drawingml/2006/main">
            <a:off x="5791200" y="4857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Create charts and compare Cassandra row counts.</a:t>
            </a:r>
          </a:p>
        </p:txBody>
      </p:sp>
    </p:spTree>
    <p:extLst>
      <p:ext uri="{BB962C8B-B14F-4D97-AF65-F5344CB8AC3E}">
        <p14:creationId xmlns:p14="http://schemas.microsoft.com/office/powerpoint/2010/main" val="1052334191"/>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0B7D52-9983-40F8-809E-1A5EF02D6DDC}"/>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Most ratings were 4 stars</a:t>
            </a:r>
          </a:p>
        </p:txBody>
      </p:sp>
      <p:graphicFrame>
        <p:nvGraphicFramePr>
          <p:cNvPr id="2" name="Chart">
            <a:extLst xmlns:a="http://schemas.openxmlformats.org/drawingml/2006/main">
              <a:ext uri="{FF2B5EF4-FFF2-40B4-BE49-F238E27FC236}">
                <a16:creationId xmlns:a16="http://schemas.microsoft.com/office/drawing/2014/main" id="{22BC1BF4-6E51-4138-9BB9-80E4D8ED69FC}"/>
              </a:ext>
            </a:extLst>
          </p:cNvPr>
          <p:cNvGraphicFramePr/>
          <p:nvPr/>
        </p:nvGraphicFramePr>
        <p:xfrm>
          <a:off xmlns:a="http://schemas.openxmlformats.org/drawingml/2006/main" x="685800" y="1352550"/>
          <a:ext xmlns:a="http://schemas.openxmlformats.org/drawingml/2006/main" cx="7858125" cy="4762500"/>
        </p:xfrm>
        <a:graphic xmlns:a="http://schemas.openxmlformats.org/drawingml/2006/main">
          <a:graphicData uri="http://schemas.openxmlformats.org/drawingml/2006/chart">
            <c:chart xmlns:r="http://schemas.openxmlformats.org/officeDocument/2006/relationships" xmlns:c="http://schemas.openxmlformats.org/drawingml/2006/chart" r:id="Ra7b7f428b868459f"/>
          </a:graphicData>
        </a:graphic>
      </p:graphicFrame>
      <p:sp>
        <p:nvSpPr>
          <p:cNvPr id="3" name="">
            <a:extLst xmlns:a="http://schemas.openxmlformats.org/drawingml/2006/main">
              <a:ext uri="{FF2B5EF4-FFF2-40B4-BE49-F238E27FC236}">
                <a16:creationId xmlns:a16="http://schemas.microsoft.com/office/drawing/2014/main" id="{4E9ADCF0-B207-4437-BBF5-79980BBDC9C6}"/>
              </a:ext>
            </a:extLst>
          </p:cNvPr>
          <p:cNvSpPr>
            <a:spLocks xmlns:a="http://schemas.openxmlformats.org/drawingml/2006/main" noGrp="1"/>
          </p:cNvSpPr>
          <p:nvPr/>
        </p:nvSpPr>
        <p:spPr>
          <a:xfrm xmlns:a="http://schemas.openxmlformats.org/drawingml/2006/main">
            <a:off x="8858250" y="21717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550" b="1">
                <a:solidFill>
                  <a:srgbClr val="168C8C"/>
                </a:solidFill>
                <a:latin typeface="Aptos"/>
                <a:ea typeface="Aptos"/>
                <a:cs typeface="Aptos"/>
              </a:defRPr>
            </a:defPPr>
            <a:lvl1pPr>
              <a:defRPr sz="2550" b="1">
                <a:solidFill>
                  <a:srgbClr val="168C8C"/>
                </a:solidFill>
                <a:latin typeface="Aptos"/>
                <a:ea typeface="Aptos"/>
                <a:cs typeface="Aptos"/>
              </a:defRPr>
            </a:lvl1pPr>
            <a:lvl2pPr>
              <a:defRPr sz="2550" b="1">
                <a:solidFill>
                  <a:srgbClr val="168C8C"/>
                </a:solidFill>
                <a:latin typeface="Aptos"/>
                <a:ea typeface="Aptos"/>
                <a:cs typeface="Aptos"/>
              </a:defRPr>
            </a:lvl2pPr>
            <a:lvl3pPr>
              <a:defRPr sz="2550" b="1">
                <a:solidFill>
                  <a:srgbClr val="168C8C"/>
                </a:solidFill>
                <a:latin typeface="Aptos"/>
                <a:ea typeface="Aptos"/>
                <a:cs typeface="Aptos"/>
              </a:defRPr>
            </a:lvl3pPr>
            <a:lvl4pPr>
              <a:defRPr sz="2550" b="1">
                <a:solidFill>
                  <a:srgbClr val="168C8C"/>
                </a:solidFill>
                <a:latin typeface="Aptos"/>
                <a:ea typeface="Aptos"/>
                <a:cs typeface="Aptos"/>
              </a:defRPr>
            </a:lvl4pPr>
            <a:lvl5pPr>
              <a:defRPr sz="2550" b="1">
                <a:solidFill>
                  <a:srgbClr val="168C8C"/>
                </a:solidFill>
                <a:latin typeface="Aptos"/>
                <a:ea typeface="Aptos"/>
                <a:cs typeface="Aptos"/>
              </a:defRPr>
            </a:lvl5pPr>
            <a:lvl6pPr>
              <a:defRPr sz="2550" b="1">
                <a:solidFill>
                  <a:srgbClr val="168C8C"/>
                </a:solidFill>
                <a:latin typeface="Aptos"/>
                <a:ea typeface="Aptos"/>
                <a:cs typeface="Aptos"/>
              </a:defRPr>
            </a:lvl6pPr>
            <a:lvl7pPr>
              <a:defRPr sz="2550" b="1">
                <a:solidFill>
                  <a:srgbClr val="168C8C"/>
                </a:solidFill>
                <a:latin typeface="Aptos"/>
                <a:ea typeface="Aptos"/>
                <a:cs typeface="Aptos"/>
              </a:defRPr>
            </a:lvl7pPr>
            <a:lvl8pPr>
              <a:defRPr sz="2550" b="1">
                <a:solidFill>
                  <a:srgbClr val="168C8C"/>
                </a:solidFill>
                <a:latin typeface="Aptos"/>
                <a:ea typeface="Aptos"/>
                <a:cs typeface="Aptos"/>
              </a:defRPr>
            </a:lvl8pPr>
            <a:lvl9pPr>
              <a:defRPr sz="2550" b="1">
                <a:solidFill>
                  <a:srgbClr val="168C8C"/>
                </a:solidFill>
                <a:latin typeface="Aptos"/>
                <a:ea typeface="Aptos"/>
                <a:cs typeface="Aptos"/>
              </a:defRPr>
            </a:lvl9pPr>
          </a:lstStyle>
          <a:p xmlns:a="http://schemas.openxmlformats.org/drawingml/2006/main">
            <a:pPr>
              <a:defRPr sz="2550" b="1">
                <a:solidFill>
                  <a:srgbClr val="168C8C"/>
                </a:solidFill>
                <a:latin typeface="Aptos"/>
                <a:ea typeface="Aptos"/>
                <a:cs typeface="Aptos"/>
              </a:defRPr>
            </a:pPr>
            <a:r>
              <a:rPr sz="2550" b="1">
                <a:solidFill>
                  <a:srgbClr val="168C8C"/>
                </a:solidFill>
                <a:latin typeface="Aptos"/>
                <a:ea typeface="Aptos"/>
                <a:cs typeface="Aptos"/>
              </a:rPr>
              <a:t>5.56 million</a:t>
            </a:r>
          </a:p>
        </p:txBody>
      </p:sp>
      <p:sp>
        <p:nvSpPr>
          <p:cNvPr id="4" name="">
            <a:extLst xmlns:a="http://schemas.openxmlformats.org/drawingml/2006/main">
              <a:ext uri="{FF2B5EF4-FFF2-40B4-BE49-F238E27FC236}">
                <a16:creationId xmlns:a16="http://schemas.microsoft.com/office/drawing/2014/main" id="{E43F1186-4639-44AC-B9F1-B69F845AA708}"/>
              </a:ext>
            </a:extLst>
          </p:cNvPr>
          <p:cNvSpPr>
            <a:spLocks xmlns:a="http://schemas.openxmlformats.org/drawingml/2006/main" noGrp="1"/>
          </p:cNvSpPr>
          <p:nvPr/>
        </p:nvSpPr>
        <p:spPr>
          <a:xfrm xmlns:a="http://schemas.openxmlformats.org/drawingml/2006/main">
            <a:off x="8858250" y="26860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b="1">
                <a:solidFill>
                  <a:srgbClr val="17324D"/>
                </a:solidFill>
                <a:latin typeface="Aptos"/>
                <a:ea typeface="Aptos"/>
                <a:cs typeface="Aptos"/>
              </a:defRPr>
            </a:defPPr>
            <a:lvl1pPr>
              <a:defRPr sz="1800" b="1">
                <a:solidFill>
                  <a:srgbClr val="17324D"/>
                </a:solidFill>
                <a:latin typeface="Aptos"/>
                <a:ea typeface="Aptos"/>
                <a:cs typeface="Aptos"/>
              </a:defRPr>
            </a:lvl1pPr>
            <a:lvl2pPr>
              <a:defRPr sz="1800" b="1">
                <a:solidFill>
                  <a:srgbClr val="17324D"/>
                </a:solidFill>
                <a:latin typeface="Aptos"/>
                <a:ea typeface="Aptos"/>
                <a:cs typeface="Aptos"/>
              </a:defRPr>
            </a:lvl2pPr>
            <a:lvl3pPr>
              <a:defRPr sz="1800" b="1">
                <a:solidFill>
                  <a:srgbClr val="17324D"/>
                </a:solidFill>
                <a:latin typeface="Aptos"/>
                <a:ea typeface="Aptos"/>
                <a:cs typeface="Aptos"/>
              </a:defRPr>
            </a:lvl3pPr>
            <a:lvl4pPr>
              <a:defRPr sz="1800" b="1">
                <a:solidFill>
                  <a:srgbClr val="17324D"/>
                </a:solidFill>
                <a:latin typeface="Aptos"/>
                <a:ea typeface="Aptos"/>
                <a:cs typeface="Aptos"/>
              </a:defRPr>
            </a:lvl4pPr>
            <a:lvl5pPr>
              <a:defRPr sz="1800" b="1">
                <a:solidFill>
                  <a:srgbClr val="17324D"/>
                </a:solidFill>
                <a:latin typeface="Aptos"/>
                <a:ea typeface="Aptos"/>
                <a:cs typeface="Aptos"/>
              </a:defRPr>
            </a:lvl5pPr>
            <a:lvl6pPr>
              <a:defRPr sz="1800" b="1">
                <a:solidFill>
                  <a:srgbClr val="17324D"/>
                </a:solidFill>
                <a:latin typeface="Aptos"/>
                <a:ea typeface="Aptos"/>
                <a:cs typeface="Aptos"/>
              </a:defRPr>
            </a:lvl6pPr>
            <a:lvl7pPr>
              <a:defRPr sz="1800" b="1">
                <a:solidFill>
                  <a:srgbClr val="17324D"/>
                </a:solidFill>
                <a:latin typeface="Aptos"/>
                <a:ea typeface="Aptos"/>
                <a:cs typeface="Aptos"/>
              </a:defRPr>
            </a:lvl7pPr>
            <a:lvl8pPr>
              <a:defRPr sz="1800" b="1">
                <a:solidFill>
                  <a:srgbClr val="17324D"/>
                </a:solidFill>
                <a:latin typeface="Aptos"/>
                <a:ea typeface="Aptos"/>
                <a:cs typeface="Aptos"/>
              </a:defRPr>
            </a:lvl8pPr>
            <a:lvl9pPr>
              <a:defRPr sz="1800" b="1">
                <a:solidFill>
                  <a:srgbClr val="17324D"/>
                </a:solidFill>
                <a:latin typeface="Aptos"/>
                <a:ea typeface="Aptos"/>
                <a:cs typeface="Aptos"/>
              </a:defRPr>
            </a:lvl9pPr>
          </a:lstStyle>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4.0-star ratings</a:t>
            </a:r>
          </a:p>
        </p:txBody>
      </p:sp>
      <p:sp>
        <p:nvSpPr>
          <p:cNvPr id="5" name="">
            <a:extLst xmlns:a="http://schemas.openxmlformats.org/drawingml/2006/main">
              <a:ext uri="{FF2B5EF4-FFF2-40B4-BE49-F238E27FC236}">
                <a16:creationId xmlns:a16="http://schemas.microsoft.com/office/drawing/2014/main" id="{A6294BEF-9271-4149-8065-966037B29F61}"/>
              </a:ext>
            </a:extLst>
          </p:cNvPr>
          <p:cNvSpPr>
            <a:spLocks xmlns:a="http://schemas.openxmlformats.org/drawingml/2006/main" noGrp="1"/>
          </p:cNvSpPr>
          <p:nvPr/>
        </p:nvSpPr>
        <p:spPr>
          <a:xfrm xmlns:a="http://schemas.openxmlformats.org/drawingml/2006/main">
            <a:off x="8858250" y="33909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That is about 27.8% of all ratings. The next most common score was 3.0 stars.</a:t>
            </a:r>
          </a:p>
        </p:txBody>
      </p:sp>
    </p:spTree>
    <p:extLst>
      <p:ext uri="{BB962C8B-B14F-4D97-AF65-F5344CB8AC3E}">
        <p14:creationId xmlns:p14="http://schemas.microsoft.com/office/powerpoint/2010/main" val="1967407848"/>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5CBF3D-9BC7-4FF8-AA0B-986150B8274B}"/>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Genre averages vary</a:t>
            </a:r>
          </a:p>
        </p:txBody>
      </p:sp>
      <p:graphicFrame>
        <p:nvGraphicFramePr>
          <p:cNvPr id="2" name="Chart">
            <a:extLst xmlns:a="http://schemas.openxmlformats.org/drawingml/2006/main">
              <a:ext uri="{FF2B5EF4-FFF2-40B4-BE49-F238E27FC236}">
                <a16:creationId xmlns:a16="http://schemas.microsoft.com/office/drawing/2014/main" id="{8E68FCBC-ACA8-441A-837E-A1B018A64770}"/>
              </a:ext>
            </a:extLst>
          </p:cNvPr>
          <p:cNvGraphicFramePr/>
          <p:nvPr/>
        </p:nvGraphicFramePr>
        <p:xfrm>
          <a:off xmlns:a="http://schemas.openxmlformats.org/drawingml/2006/main" x="647700" y="1257300"/>
          <a:ext xmlns:a="http://schemas.openxmlformats.org/drawingml/2006/main" cx="7810500" cy="4953000"/>
        </p:xfrm>
        <a:graphic xmlns:a="http://schemas.openxmlformats.org/drawingml/2006/main">
          <a:graphicData uri="http://schemas.openxmlformats.org/drawingml/2006/chart">
            <c:chart xmlns:r="http://schemas.openxmlformats.org/officeDocument/2006/relationships" xmlns:c="http://schemas.openxmlformats.org/drawingml/2006/chart" r:id="R655cc8cc4f2e4151"/>
          </a:graphicData>
        </a:graphic>
      </p:graphicFrame>
      <p:sp>
        <p:nvSpPr>
          <p:cNvPr id="3" name="">
            <a:extLst xmlns:a="http://schemas.openxmlformats.org/drawingml/2006/main">
              <a:ext uri="{FF2B5EF4-FFF2-40B4-BE49-F238E27FC236}">
                <a16:creationId xmlns:a16="http://schemas.microsoft.com/office/drawing/2014/main" id="{3002013F-4A37-4E0E-B95C-AAD6751DA770}"/>
              </a:ext>
            </a:extLst>
          </p:cNvPr>
          <p:cNvSpPr>
            <a:spLocks xmlns:a="http://schemas.openxmlformats.org/drawingml/2006/main" noGrp="1"/>
          </p:cNvSpPr>
          <p:nvPr/>
        </p:nvSpPr>
        <p:spPr>
          <a:xfrm xmlns:a="http://schemas.openxmlformats.org/drawingml/2006/main">
            <a:off x="8858250" y="1981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b="1">
                <a:solidFill>
                  <a:srgbClr val="526779"/>
                </a:solidFill>
                <a:latin typeface="Aptos"/>
                <a:ea typeface="Aptos"/>
                <a:cs typeface="Aptos"/>
              </a:defRPr>
            </a:defPPr>
            <a:lvl1pPr>
              <a:defRPr sz="1575" b="1">
                <a:solidFill>
                  <a:srgbClr val="526779"/>
                </a:solidFill>
                <a:latin typeface="Aptos"/>
                <a:ea typeface="Aptos"/>
                <a:cs typeface="Aptos"/>
              </a:defRPr>
            </a:lvl1pPr>
            <a:lvl2pPr>
              <a:defRPr sz="1575" b="1">
                <a:solidFill>
                  <a:srgbClr val="526779"/>
                </a:solidFill>
                <a:latin typeface="Aptos"/>
                <a:ea typeface="Aptos"/>
                <a:cs typeface="Aptos"/>
              </a:defRPr>
            </a:lvl2pPr>
            <a:lvl3pPr>
              <a:defRPr sz="1575" b="1">
                <a:solidFill>
                  <a:srgbClr val="526779"/>
                </a:solidFill>
                <a:latin typeface="Aptos"/>
                <a:ea typeface="Aptos"/>
                <a:cs typeface="Aptos"/>
              </a:defRPr>
            </a:lvl3pPr>
            <a:lvl4pPr>
              <a:defRPr sz="1575" b="1">
                <a:solidFill>
                  <a:srgbClr val="526779"/>
                </a:solidFill>
                <a:latin typeface="Aptos"/>
                <a:ea typeface="Aptos"/>
                <a:cs typeface="Aptos"/>
              </a:defRPr>
            </a:lvl4pPr>
            <a:lvl5pPr>
              <a:defRPr sz="1575" b="1">
                <a:solidFill>
                  <a:srgbClr val="526779"/>
                </a:solidFill>
                <a:latin typeface="Aptos"/>
                <a:ea typeface="Aptos"/>
                <a:cs typeface="Aptos"/>
              </a:defRPr>
            </a:lvl5pPr>
            <a:lvl6pPr>
              <a:defRPr sz="1575" b="1">
                <a:solidFill>
                  <a:srgbClr val="526779"/>
                </a:solidFill>
                <a:latin typeface="Aptos"/>
                <a:ea typeface="Aptos"/>
                <a:cs typeface="Aptos"/>
              </a:defRPr>
            </a:lvl6pPr>
            <a:lvl7pPr>
              <a:defRPr sz="1575" b="1">
                <a:solidFill>
                  <a:srgbClr val="526779"/>
                </a:solidFill>
                <a:latin typeface="Aptos"/>
                <a:ea typeface="Aptos"/>
                <a:cs typeface="Aptos"/>
              </a:defRPr>
            </a:lvl7pPr>
            <a:lvl8pPr>
              <a:defRPr sz="1575" b="1">
                <a:solidFill>
                  <a:srgbClr val="526779"/>
                </a:solidFill>
                <a:latin typeface="Aptos"/>
                <a:ea typeface="Aptos"/>
                <a:cs typeface="Aptos"/>
              </a:defRPr>
            </a:lvl8pPr>
            <a:lvl9pPr>
              <a:defRPr sz="1575" b="1">
                <a:solidFill>
                  <a:srgbClr val="526779"/>
                </a:solidFill>
                <a:latin typeface="Aptos"/>
                <a:ea typeface="Aptos"/>
                <a:cs typeface="Aptos"/>
              </a:defRPr>
            </a:lvl9pPr>
          </a:lstStyle>
          <a:p xmlns:a="http://schemas.openxmlformats.org/drawingml/2006/main">
            <a:pPr>
              <a:defRPr sz="1575" b="1">
                <a:solidFill>
                  <a:srgbClr val="526779"/>
                </a:solidFill>
                <a:latin typeface="Aptos"/>
                <a:ea typeface="Aptos"/>
                <a:cs typeface="Aptos"/>
              </a:defRPr>
            </a:pPr>
            <a:r>
              <a:rPr sz="1575" b="1">
                <a:solidFill>
                  <a:srgbClr val="526779"/>
                </a:solidFill>
                <a:latin typeface="Aptos"/>
                <a:ea typeface="Aptos"/>
                <a:cs typeface="Aptos"/>
              </a:rPr>
              <a:t>Highest average</a:t>
            </a:r>
          </a:p>
        </p:txBody>
      </p:sp>
      <p:sp>
        <p:nvSpPr>
          <p:cNvPr id="4" name="">
            <a:extLst xmlns:a="http://schemas.openxmlformats.org/drawingml/2006/main">
              <a:ext uri="{FF2B5EF4-FFF2-40B4-BE49-F238E27FC236}">
                <a16:creationId xmlns:a16="http://schemas.microsoft.com/office/drawing/2014/main" id="{C5D4AEC1-EAB2-4CA5-9DA7-A3839D51A617}"/>
              </a:ext>
            </a:extLst>
          </p:cNvPr>
          <p:cNvSpPr>
            <a:spLocks xmlns:a="http://schemas.openxmlformats.org/drawingml/2006/main" noGrp="1"/>
          </p:cNvSpPr>
          <p:nvPr/>
        </p:nvSpPr>
        <p:spPr>
          <a:xfrm xmlns:a="http://schemas.openxmlformats.org/drawingml/2006/main">
            <a:off x="8858250" y="2381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68C8C"/>
                </a:solidFill>
                <a:latin typeface="Aptos"/>
                <a:ea typeface="Aptos"/>
                <a:cs typeface="Aptos"/>
              </a:defRPr>
            </a:defPPr>
            <a:lvl1pPr>
              <a:defRPr sz="2100" b="1">
                <a:solidFill>
                  <a:srgbClr val="168C8C"/>
                </a:solidFill>
                <a:latin typeface="Aptos"/>
                <a:ea typeface="Aptos"/>
                <a:cs typeface="Aptos"/>
              </a:defRPr>
            </a:lvl1pPr>
            <a:lvl2pPr>
              <a:defRPr sz="2100" b="1">
                <a:solidFill>
                  <a:srgbClr val="168C8C"/>
                </a:solidFill>
                <a:latin typeface="Aptos"/>
                <a:ea typeface="Aptos"/>
                <a:cs typeface="Aptos"/>
              </a:defRPr>
            </a:lvl2pPr>
            <a:lvl3pPr>
              <a:defRPr sz="2100" b="1">
                <a:solidFill>
                  <a:srgbClr val="168C8C"/>
                </a:solidFill>
                <a:latin typeface="Aptos"/>
                <a:ea typeface="Aptos"/>
                <a:cs typeface="Aptos"/>
              </a:defRPr>
            </a:lvl3pPr>
            <a:lvl4pPr>
              <a:defRPr sz="2100" b="1">
                <a:solidFill>
                  <a:srgbClr val="168C8C"/>
                </a:solidFill>
                <a:latin typeface="Aptos"/>
                <a:ea typeface="Aptos"/>
                <a:cs typeface="Aptos"/>
              </a:defRPr>
            </a:lvl4pPr>
            <a:lvl5pPr>
              <a:defRPr sz="2100" b="1">
                <a:solidFill>
                  <a:srgbClr val="168C8C"/>
                </a:solidFill>
                <a:latin typeface="Aptos"/>
                <a:ea typeface="Aptos"/>
                <a:cs typeface="Aptos"/>
              </a:defRPr>
            </a:lvl5pPr>
            <a:lvl6pPr>
              <a:defRPr sz="2100" b="1">
                <a:solidFill>
                  <a:srgbClr val="168C8C"/>
                </a:solidFill>
                <a:latin typeface="Aptos"/>
                <a:ea typeface="Aptos"/>
                <a:cs typeface="Aptos"/>
              </a:defRPr>
            </a:lvl6pPr>
            <a:lvl7pPr>
              <a:defRPr sz="2100" b="1">
                <a:solidFill>
                  <a:srgbClr val="168C8C"/>
                </a:solidFill>
                <a:latin typeface="Aptos"/>
                <a:ea typeface="Aptos"/>
                <a:cs typeface="Aptos"/>
              </a:defRPr>
            </a:lvl7pPr>
            <a:lvl8pPr>
              <a:defRPr sz="2100" b="1">
                <a:solidFill>
                  <a:srgbClr val="168C8C"/>
                </a:solidFill>
                <a:latin typeface="Aptos"/>
                <a:ea typeface="Aptos"/>
                <a:cs typeface="Aptos"/>
              </a:defRPr>
            </a:lvl8pPr>
            <a:lvl9pPr>
              <a:defRPr sz="2100" b="1">
                <a:solidFill>
                  <a:srgbClr val="168C8C"/>
                </a:solidFill>
                <a:latin typeface="Aptos"/>
                <a:ea typeface="Aptos"/>
                <a:cs typeface="Aptos"/>
              </a:defRPr>
            </a:lvl9pPr>
          </a:lstStyle>
          <a:p xmlns:a="http://schemas.openxmlformats.org/drawingml/2006/main">
            <a:pPr>
              <a:defRPr sz="2100" b="1">
                <a:solidFill>
                  <a:srgbClr val="168C8C"/>
                </a:solidFill>
                <a:latin typeface="Aptos"/>
                <a:ea typeface="Aptos"/>
                <a:cs typeface="Aptos"/>
              </a:defRPr>
            </a:pPr>
            <a:r>
              <a:rPr sz="2100" b="1">
                <a:solidFill>
                  <a:srgbClr val="168C8C"/>
                </a:solidFill>
                <a:latin typeface="Aptos"/>
                <a:ea typeface="Aptos"/>
                <a:cs typeface="Aptos"/>
              </a:rPr>
              <a:t>Film-Noir  3.97</a:t>
            </a:r>
          </a:p>
        </p:txBody>
      </p:sp>
      <p:sp>
        <p:nvSpPr>
          <p:cNvPr id="5" name="">
            <a:extLst xmlns:a="http://schemas.openxmlformats.org/drawingml/2006/main">
              <a:ext uri="{FF2B5EF4-FFF2-40B4-BE49-F238E27FC236}">
                <a16:creationId xmlns:a16="http://schemas.microsoft.com/office/drawing/2014/main" id="{0204AB59-19E3-4979-AEDB-D96436F3CDC3}"/>
              </a:ext>
            </a:extLst>
          </p:cNvPr>
          <p:cNvSpPr>
            <a:spLocks xmlns:a="http://schemas.openxmlformats.org/drawingml/2006/main" noGrp="1"/>
          </p:cNvSpPr>
          <p:nvPr/>
        </p:nvSpPr>
        <p:spPr>
          <a:xfrm xmlns:a="http://schemas.openxmlformats.org/drawingml/2006/main">
            <a:off x="8858250" y="2857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216,689 ratings</a:t>
            </a:r>
          </a:p>
        </p:txBody>
      </p:sp>
      <p:sp>
        <p:nvSpPr>
          <p:cNvPr id="6" name="">
            <a:extLst xmlns:a="http://schemas.openxmlformats.org/drawingml/2006/main">
              <a:ext uri="{FF2B5EF4-FFF2-40B4-BE49-F238E27FC236}">
                <a16:creationId xmlns:a16="http://schemas.microsoft.com/office/drawing/2014/main" id="{95389583-CCC6-46EA-9342-596B682275E5}"/>
              </a:ext>
            </a:extLst>
          </p:cNvPr>
          <p:cNvSpPr>
            <a:spLocks xmlns:a="http://schemas.openxmlformats.org/drawingml/2006/main" noGrp="1"/>
          </p:cNvSpPr>
          <p:nvPr/>
        </p:nvSpPr>
        <p:spPr>
          <a:xfrm xmlns:a="http://schemas.openxmlformats.org/drawingml/2006/main">
            <a:off x="8858250" y="36957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b="1">
                <a:solidFill>
                  <a:srgbClr val="17324D"/>
                </a:solidFill>
                <a:latin typeface="Aptos"/>
                <a:ea typeface="Aptos"/>
                <a:cs typeface="Aptos"/>
              </a:defRPr>
            </a:defPPr>
            <a:lvl1pPr>
              <a:defRPr sz="1650" b="1">
                <a:solidFill>
                  <a:srgbClr val="17324D"/>
                </a:solidFill>
                <a:latin typeface="Aptos"/>
                <a:ea typeface="Aptos"/>
                <a:cs typeface="Aptos"/>
              </a:defRPr>
            </a:lvl1pPr>
            <a:lvl2pPr>
              <a:defRPr sz="1650" b="1">
                <a:solidFill>
                  <a:srgbClr val="17324D"/>
                </a:solidFill>
                <a:latin typeface="Aptos"/>
                <a:ea typeface="Aptos"/>
                <a:cs typeface="Aptos"/>
              </a:defRPr>
            </a:lvl2pPr>
            <a:lvl3pPr>
              <a:defRPr sz="1650" b="1">
                <a:solidFill>
                  <a:srgbClr val="17324D"/>
                </a:solidFill>
                <a:latin typeface="Aptos"/>
                <a:ea typeface="Aptos"/>
                <a:cs typeface="Aptos"/>
              </a:defRPr>
            </a:lvl3pPr>
            <a:lvl4pPr>
              <a:defRPr sz="1650" b="1">
                <a:solidFill>
                  <a:srgbClr val="17324D"/>
                </a:solidFill>
                <a:latin typeface="Aptos"/>
                <a:ea typeface="Aptos"/>
                <a:cs typeface="Aptos"/>
              </a:defRPr>
            </a:lvl4pPr>
            <a:lvl5pPr>
              <a:defRPr sz="1650" b="1">
                <a:solidFill>
                  <a:srgbClr val="17324D"/>
                </a:solidFill>
                <a:latin typeface="Aptos"/>
                <a:ea typeface="Aptos"/>
                <a:cs typeface="Aptos"/>
              </a:defRPr>
            </a:lvl5pPr>
            <a:lvl6pPr>
              <a:defRPr sz="1650" b="1">
                <a:solidFill>
                  <a:srgbClr val="17324D"/>
                </a:solidFill>
                <a:latin typeface="Aptos"/>
                <a:ea typeface="Aptos"/>
                <a:cs typeface="Aptos"/>
              </a:defRPr>
            </a:lvl6pPr>
            <a:lvl7pPr>
              <a:defRPr sz="1650" b="1">
                <a:solidFill>
                  <a:srgbClr val="17324D"/>
                </a:solidFill>
                <a:latin typeface="Aptos"/>
                <a:ea typeface="Aptos"/>
                <a:cs typeface="Aptos"/>
              </a:defRPr>
            </a:lvl7pPr>
            <a:lvl8pPr>
              <a:defRPr sz="1650" b="1">
                <a:solidFill>
                  <a:srgbClr val="17324D"/>
                </a:solidFill>
                <a:latin typeface="Aptos"/>
                <a:ea typeface="Aptos"/>
                <a:cs typeface="Aptos"/>
              </a:defRPr>
            </a:lvl8pPr>
            <a:lvl9pPr>
              <a:defRPr sz="1650" b="1">
                <a:solidFill>
                  <a:srgbClr val="17324D"/>
                </a:solidFill>
                <a:latin typeface="Aptos"/>
                <a:ea typeface="Aptos"/>
                <a:cs typeface="Aptos"/>
              </a:defRPr>
            </a:lvl9pPr>
          </a:lstStyle>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Drama had the most ratings: 8,857,853.</a:t>
            </a:r>
          </a:p>
        </p:txBody>
      </p:sp>
    </p:spTree>
    <p:extLst>
      <p:ext uri="{BB962C8B-B14F-4D97-AF65-F5344CB8AC3E}">
        <p14:creationId xmlns:p14="http://schemas.microsoft.com/office/powerpoint/2010/main" val="229549708"/>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A98D44-40A1-4638-BB53-00E307788CDA}"/>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Average ratings by release year, 1990–2014</a:t>
            </a:r>
          </a:p>
        </p:txBody>
      </p:sp>
      <p:graphicFrame>
        <p:nvGraphicFramePr>
          <p:cNvPr id="2" name="Chart">
            <a:extLst xmlns:a="http://schemas.openxmlformats.org/drawingml/2006/main">
              <a:ext uri="{FF2B5EF4-FFF2-40B4-BE49-F238E27FC236}">
                <a16:creationId xmlns:a16="http://schemas.microsoft.com/office/drawing/2014/main" id="{C668E2BD-67B2-4D17-9234-2657E758202F}"/>
              </a:ext>
            </a:extLst>
          </p:cNvPr>
          <p:cNvGraphicFramePr/>
          <p:nvPr/>
        </p:nvGraphicFramePr>
        <p:xfrm>
          <a:off xmlns:a="http://schemas.openxmlformats.org/drawingml/2006/main" x="647700" y="1362075"/>
          <a:ext xmlns:a="http://schemas.openxmlformats.org/drawingml/2006/main" cx="7953375" cy="4572000"/>
        </p:xfrm>
        <a:graphic xmlns:a="http://schemas.openxmlformats.org/drawingml/2006/main">
          <a:graphicData uri="http://schemas.openxmlformats.org/drawingml/2006/chart">
            <c:chart xmlns:r="http://schemas.openxmlformats.org/officeDocument/2006/relationships" xmlns:c="http://schemas.openxmlformats.org/drawingml/2006/chart" r:id="Rd80480f880944934"/>
          </a:graphicData>
        </a:graphic>
      </p:graphicFrame>
      <p:sp>
        <p:nvSpPr>
          <p:cNvPr id="3" name="">
            <a:extLst xmlns:a="http://schemas.openxmlformats.org/drawingml/2006/main">
              <a:ext uri="{FF2B5EF4-FFF2-40B4-BE49-F238E27FC236}">
                <a16:creationId xmlns:a16="http://schemas.microsoft.com/office/drawing/2014/main" id="{45D5ED31-802B-414A-A3CB-41F8B9C754DB}"/>
              </a:ext>
            </a:extLst>
          </p:cNvPr>
          <p:cNvSpPr>
            <a:spLocks xmlns:a="http://schemas.openxmlformats.org/drawingml/2006/main" noGrp="1"/>
          </p:cNvSpPr>
          <p:nvPr/>
        </p:nvSpPr>
        <p:spPr>
          <a:xfrm xmlns:a="http://schemas.openxmlformats.org/drawingml/2006/main">
            <a:off x="8905875" y="2152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400" b="1">
                <a:solidFill>
                  <a:srgbClr val="168C8C"/>
                </a:solidFill>
                <a:latin typeface="Aptos"/>
                <a:ea typeface="Aptos"/>
                <a:cs typeface="Aptos"/>
              </a:defRPr>
            </a:defPPr>
            <a:lvl1pPr>
              <a:defRPr sz="2400" b="1">
                <a:solidFill>
                  <a:srgbClr val="168C8C"/>
                </a:solidFill>
                <a:latin typeface="Aptos"/>
                <a:ea typeface="Aptos"/>
                <a:cs typeface="Aptos"/>
              </a:defRPr>
            </a:lvl1pPr>
            <a:lvl2pPr>
              <a:defRPr sz="2400" b="1">
                <a:solidFill>
                  <a:srgbClr val="168C8C"/>
                </a:solidFill>
                <a:latin typeface="Aptos"/>
                <a:ea typeface="Aptos"/>
                <a:cs typeface="Aptos"/>
              </a:defRPr>
            </a:lvl2pPr>
            <a:lvl3pPr>
              <a:defRPr sz="2400" b="1">
                <a:solidFill>
                  <a:srgbClr val="168C8C"/>
                </a:solidFill>
                <a:latin typeface="Aptos"/>
                <a:ea typeface="Aptos"/>
                <a:cs typeface="Aptos"/>
              </a:defRPr>
            </a:lvl3pPr>
            <a:lvl4pPr>
              <a:defRPr sz="2400" b="1">
                <a:solidFill>
                  <a:srgbClr val="168C8C"/>
                </a:solidFill>
                <a:latin typeface="Aptos"/>
                <a:ea typeface="Aptos"/>
                <a:cs typeface="Aptos"/>
              </a:defRPr>
            </a:lvl4pPr>
            <a:lvl5pPr>
              <a:defRPr sz="2400" b="1">
                <a:solidFill>
                  <a:srgbClr val="168C8C"/>
                </a:solidFill>
                <a:latin typeface="Aptos"/>
                <a:ea typeface="Aptos"/>
                <a:cs typeface="Aptos"/>
              </a:defRPr>
            </a:lvl5pPr>
            <a:lvl6pPr>
              <a:defRPr sz="2400" b="1">
                <a:solidFill>
                  <a:srgbClr val="168C8C"/>
                </a:solidFill>
                <a:latin typeface="Aptos"/>
                <a:ea typeface="Aptos"/>
                <a:cs typeface="Aptos"/>
              </a:defRPr>
            </a:lvl6pPr>
            <a:lvl7pPr>
              <a:defRPr sz="2400" b="1">
                <a:solidFill>
                  <a:srgbClr val="168C8C"/>
                </a:solidFill>
                <a:latin typeface="Aptos"/>
                <a:ea typeface="Aptos"/>
                <a:cs typeface="Aptos"/>
              </a:defRPr>
            </a:lvl7pPr>
            <a:lvl8pPr>
              <a:defRPr sz="2400" b="1">
                <a:solidFill>
                  <a:srgbClr val="168C8C"/>
                </a:solidFill>
                <a:latin typeface="Aptos"/>
                <a:ea typeface="Aptos"/>
                <a:cs typeface="Aptos"/>
              </a:defRPr>
            </a:lvl8pPr>
            <a:lvl9pPr>
              <a:defRPr sz="2400" b="1">
                <a:solidFill>
                  <a:srgbClr val="168C8C"/>
                </a:solidFill>
                <a:latin typeface="Aptos"/>
                <a:ea typeface="Aptos"/>
                <a:cs typeface="Aptos"/>
              </a:defRPr>
            </a:lvl9pPr>
          </a:lstStyle>
          <a:p xmlns:a="http://schemas.openxmlformats.org/drawingml/2006/main">
            <a:pPr>
              <a:defRPr sz="2400" b="1">
                <a:solidFill>
                  <a:srgbClr val="168C8C"/>
                </a:solidFill>
                <a:latin typeface="Aptos"/>
                <a:ea typeface="Aptos"/>
                <a:cs typeface="Aptos"/>
              </a:defRPr>
            </a:pPr>
            <a:r>
              <a:rPr sz="2400" b="1">
                <a:solidFill>
                  <a:srgbClr val="168C8C"/>
                </a:solidFill>
                <a:latin typeface="Aptos"/>
                <a:ea typeface="Aptos"/>
                <a:cs typeface="Aptos"/>
              </a:rPr>
              <a:t>3.35 to 3.60</a:t>
            </a:r>
          </a:p>
        </p:txBody>
      </p:sp>
      <p:sp>
        <p:nvSpPr>
          <p:cNvPr id="4" name="">
            <a:extLst xmlns:a="http://schemas.openxmlformats.org/drawingml/2006/main">
              <a:ext uri="{FF2B5EF4-FFF2-40B4-BE49-F238E27FC236}">
                <a16:creationId xmlns:a16="http://schemas.microsoft.com/office/drawing/2014/main" id="{DE8DAB6F-85D4-4E60-9A09-137BBE4E9AAE}"/>
              </a:ext>
            </a:extLst>
          </p:cNvPr>
          <p:cNvSpPr>
            <a:spLocks xmlns:a="http://schemas.openxmlformats.org/drawingml/2006/main" noGrp="1"/>
          </p:cNvSpPr>
          <p:nvPr/>
        </p:nvSpPr>
        <p:spPr>
          <a:xfrm xmlns:a="http://schemas.openxmlformats.org/drawingml/2006/main">
            <a:off x="8905875" y="26860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526779"/>
                </a:solidFill>
                <a:latin typeface="Aptos"/>
                <a:ea typeface="Aptos"/>
                <a:cs typeface="Aptos"/>
              </a:defRPr>
            </a:defPPr>
            <a:lvl1pPr>
              <a:defRPr sz="1575">
                <a:solidFill>
                  <a:srgbClr val="526779"/>
                </a:solidFill>
                <a:latin typeface="Aptos"/>
                <a:ea typeface="Aptos"/>
                <a:cs typeface="Aptos"/>
              </a:defRPr>
            </a:lvl1pPr>
            <a:lvl2pPr>
              <a:defRPr sz="1575">
                <a:solidFill>
                  <a:srgbClr val="526779"/>
                </a:solidFill>
                <a:latin typeface="Aptos"/>
                <a:ea typeface="Aptos"/>
                <a:cs typeface="Aptos"/>
              </a:defRPr>
            </a:lvl2pPr>
            <a:lvl3pPr>
              <a:defRPr sz="1575">
                <a:solidFill>
                  <a:srgbClr val="526779"/>
                </a:solidFill>
                <a:latin typeface="Aptos"/>
                <a:ea typeface="Aptos"/>
                <a:cs typeface="Aptos"/>
              </a:defRPr>
            </a:lvl3pPr>
            <a:lvl4pPr>
              <a:defRPr sz="1575">
                <a:solidFill>
                  <a:srgbClr val="526779"/>
                </a:solidFill>
                <a:latin typeface="Aptos"/>
                <a:ea typeface="Aptos"/>
                <a:cs typeface="Aptos"/>
              </a:defRPr>
            </a:lvl4pPr>
            <a:lvl5pPr>
              <a:defRPr sz="1575">
                <a:solidFill>
                  <a:srgbClr val="526779"/>
                </a:solidFill>
                <a:latin typeface="Aptos"/>
                <a:ea typeface="Aptos"/>
                <a:cs typeface="Aptos"/>
              </a:defRPr>
            </a:lvl5pPr>
            <a:lvl6pPr>
              <a:defRPr sz="1575">
                <a:solidFill>
                  <a:srgbClr val="526779"/>
                </a:solidFill>
                <a:latin typeface="Aptos"/>
                <a:ea typeface="Aptos"/>
                <a:cs typeface="Aptos"/>
              </a:defRPr>
            </a:lvl6pPr>
            <a:lvl7pPr>
              <a:defRPr sz="1575">
                <a:solidFill>
                  <a:srgbClr val="526779"/>
                </a:solidFill>
                <a:latin typeface="Aptos"/>
                <a:ea typeface="Aptos"/>
                <a:cs typeface="Aptos"/>
              </a:defRPr>
            </a:lvl7pPr>
            <a:lvl8pPr>
              <a:defRPr sz="1575">
                <a:solidFill>
                  <a:srgbClr val="526779"/>
                </a:solidFill>
                <a:latin typeface="Aptos"/>
                <a:ea typeface="Aptos"/>
                <a:cs typeface="Aptos"/>
              </a:defRPr>
            </a:lvl8pPr>
            <a:lvl9pPr>
              <a:defRPr sz="1575">
                <a:solidFill>
                  <a:srgbClr val="526779"/>
                </a:solidFill>
                <a:latin typeface="Aptos"/>
                <a:ea typeface="Aptos"/>
                <a:cs typeface="Aptos"/>
              </a:defRPr>
            </a:lvl9pPr>
          </a:lstStyle>
          <a:p xmlns:a="http://schemas.openxmlformats.org/drawingml/2006/main">
            <a:pPr>
              <a:defRPr sz="1575">
                <a:solidFill>
                  <a:srgbClr val="526779"/>
                </a:solidFill>
                <a:latin typeface="Aptos"/>
                <a:ea typeface="Aptos"/>
                <a:cs typeface="Aptos"/>
              </a:defRPr>
            </a:pPr>
            <a:r>
              <a:rPr sz="1575">
                <a:solidFill>
                  <a:srgbClr val="526779"/>
                </a:solidFill>
                <a:latin typeface="Aptos"/>
                <a:ea typeface="Aptos"/>
                <a:cs typeface="Aptos"/>
              </a:rPr>
              <a:t>Average rating range across these years</a:t>
            </a:r>
          </a:p>
        </p:txBody>
      </p:sp>
      <p:sp>
        <p:nvSpPr>
          <p:cNvPr id="5" name="">
            <a:extLst xmlns:a="http://schemas.openxmlformats.org/drawingml/2006/main">
              <a:ext uri="{FF2B5EF4-FFF2-40B4-BE49-F238E27FC236}">
                <a16:creationId xmlns:a16="http://schemas.microsoft.com/office/drawing/2014/main" id="{B2EE31A5-0A60-4611-A5E1-37D6913FF81D}"/>
              </a:ext>
            </a:extLst>
          </p:cNvPr>
          <p:cNvSpPr>
            <a:spLocks xmlns:a="http://schemas.openxmlformats.org/drawingml/2006/main" noGrp="1"/>
          </p:cNvSpPr>
          <p:nvPr/>
        </p:nvSpPr>
        <p:spPr>
          <a:xfrm xmlns:a="http://schemas.openxmlformats.org/drawingml/2006/main">
            <a:off x="8905875" y="37338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The 2015 release-year group had 996 ratings, so it is not shown here.</a:t>
            </a:r>
          </a:p>
        </p:txBody>
      </p:sp>
    </p:spTree>
    <p:extLst>
      <p:ext uri="{BB962C8B-B14F-4D97-AF65-F5344CB8AC3E}">
        <p14:creationId xmlns:p14="http://schemas.microsoft.com/office/powerpoint/2010/main" val="11863280"/>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58190E0-1C9C-40BA-AF0C-8DFDC98185CB}"/>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Cassandra stores four summaries</a:t>
            </a:r>
          </a:p>
        </p:txBody>
      </p:sp>
      <p:graphicFrame>
        <p:nvGraphicFramePr>
          <p:cNvPr id="2" name="">
            <a:extLst xmlns:a="http://schemas.openxmlformats.org/drawingml/2006/main">
              <a:ext uri="{FF2B5EF4-FFF2-40B4-BE49-F238E27FC236}">
                <a16:creationId xmlns:a16="http://schemas.microsoft.com/office/drawing/2014/main" id="{E2760390-7976-4E92-9B02-13AFD24C8934}"/>
              </a:ext>
            </a:extLst>
          </p:cNvPr>
          <p:cNvGraphicFramePr/>
          <p:nvPr/>
        </p:nvGraphicFramePr>
        <p:xfrm>
          <a:off xmlns:a="http://schemas.openxmlformats.org/drawingml/2006/main" x="685800" y="1524000"/>
          <a:ext xmlns:a="http://schemas.openxmlformats.org/drawingml/2006/main" cx="10820400" cy="3714750"/>
        </p:xfrm>
        <a:graphic xmlns:a="http://schemas.openxmlformats.org/drawingml/2006/main">
          <a:graphicData uri="http://schemas.openxmlformats.org/drawingml/2006/table">
            <a:tbl>
              <a:tblPr firstRow="1" bandRow="1"/>
              <a:tblGrid>
                <a:gridCol w="3606800"/>
                <a:gridCol w="3606800"/>
                <a:gridCol w="3606800"/>
              </a:tblGrid>
              <a:tr h="742950">
                <a:tc>
                  <a:txBody>
                    <a:bodyPr/>
                    <a:lstStyle/>
                    <a:p>
                      <a:r>
                        <a:rPr sz="1575" b="1">
                          <a:solidFill>
                            <a:srgbClr val="FFFFFF"/>
                          </a:solidFill>
                        </a:rPr>
                        <a:t>Table</a:t>
                      </a:r>
                    </a:p>
                  </a:txBody>
                  <a:tcPr marL="91440" marR="91440" marT="45720" marB="45720">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Rows loaded</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What each row represents</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r>
              <a:tr h="742950">
                <a:tc>
                  <a:txBody>
                    <a:bodyPr/>
                    <a:lstStyle/>
                    <a:p>
                      <a:r>
                        <a:rPr sz="1575"/>
                        <a:t>movie_stats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27,278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movie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genre_stats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19</a:t>
                      </a:r>
                    </a:p>
                  </a:txBody>
                  <a:tcPr marL="91440" marR="91440" marT="45720" marB="45720">
                    <a:lnR w="9525">
                      <a:solidFill>
                        <a:srgbClr val="D7E1E7"/>
                      </a:solidFill>
                      <a:prstDash val="solid"/>
                    </a:lnR>
                    <a:lnB w="9525">
                      <a:solidFill>
                        <a:srgbClr val="D7E1E7"/>
                      </a:solidFill>
                      <a:prstDash val="solid"/>
                    </a:lnB>
                  </a:tcPr>
                </a:tc>
                <a:tc>
                  <a:txBody>
                    <a:bodyPr/>
                    <a:lstStyle/>
                    <a:p>
                      <a:r>
                        <a:rPr sz="1575"/>
                        <a:t>One genre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rating_distribution</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10</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rating score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yearly_stats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118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release year</a:t>
                      </a:r>
                    </a:p>
                  </a:txBody>
                  <a:tcPr marL="91440" marR="91440" marT="45720" marB="45720">
                    <a:lnR w="9525">
                      <a:solidFill>
                        <a:srgbClr val="D7E1E7"/>
                      </a:solidFill>
                      <a:prstDash val="solid"/>
                    </a:lnR>
                    <a:lnB w="9525">
                      <a:solidFill>
                        <a:srgbClr val="D7E1E7"/>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A001ABA0-FEC1-4D95-9D71-1E6F6B721DA9}"/>
              </a:ext>
            </a:extLst>
          </p:cNvPr>
          <p:cNvSpPr>
            <a:spLocks xmlns:a="http://schemas.openxmlformats.org/drawingml/2006/main" noGrp="1"/>
          </p:cNvSpPr>
          <p:nvPr/>
        </p:nvSpPr>
        <p:spPr>
          <a:xfrm xmlns:a="http://schemas.openxmlformats.org/drawingml/2006/main">
            <a:off x="704850" y="561975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The same summaries are also saved as CSV files for review and submission.</a:t>
            </a:r>
          </a:p>
        </p:txBody>
      </p:sp>
    </p:spTree>
    <p:extLst>
      <p:ext uri="{BB962C8B-B14F-4D97-AF65-F5344CB8AC3E}">
        <p14:creationId xmlns:p14="http://schemas.microsoft.com/office/powerpoint/2010/main" val="57089308"/>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9864D0-74E9-407E-A64A-0ED12E4ABC9A}"/>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Main findings and limits</a:t>
            </a:r>
          </a:p>
        </p:txBody>
      </p:sp>
      <p:sp>
        <p:nvSpPr>
          <p:cNvPr id="2" name="">
            <a:extLst xmlns:a="http://schemas.openxmlformats.org/drawingml/2006/main">
              <a:ext uri="{FF2B5EF4-FFF2-40B4-BE49-F238E27FC236}">
                <a16:creationId xmlns:a16="http://schemas.microsoft.com/office/drawing/2014/main" id="{B8BA06C2-32A5-44A6-A88A-8C6F91B4DED6}"/>
              </a:ext>
            </a:extLst>
          </p:cNvPr>
          <p:cNvSpPr>
            <a:spLocks xmlns:a="http://schemas.openxmlformats.org/drawingml/2006/main" noGrp="1"/>
          </p:cNvSpPr>
          <p:nvPr/>
        </p:nvSpPr>
        <p:spPr>
          <a:xfrm xmlns:a="http://schemas.openxmlformats.org/drawingml/2006/main">
            <a:off x="723900" y="14001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shows</a:t>
            </a:r>
          </a:p>
        </p:txBody>
      </p:sp>
      <p:sp>
        <p:nvSpPr>
          <p:cNvPr id="3" name="">
            <a:extLst xmlns:a="http://schemas.openxmlformats.org/drawingml/2006/main">
              <a:ext uri="{FF2B5EF4-FFF2-40B4-BE49-F238E27FC236}">
                <a16:creationId xmlns:a16="http://schemas.microsoft.com/office/drawing/2014/main" id="{6F262D8B-CECF-40DA-BB79-77BC50697327}"/>
              </a:ext>
            </a:extLst>
          </p:cNvPr>
          <p:cNvSpPr>
            <a:spLocks xmlns:a="http://schemas.openxmlformats.org/drawingml/2006/main" noGrp="1"/>
          </p:cNvSpPr>
          <p:nvPr/>
        </p:nvSpPr>
        <p:spPr>
          <a:xfrm xmlns:a="http://schemas.openxmlformats.org/drawingml/2006/main">
            <a:off x="742950" y="1952625"/>
            <a:ext cx="490537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17324D"/>
                </a:solidFill>
                <a:latin typeface="Aptos"/>
                <a:ea typeface="Aptos"/>
                <a:cs typeface="Aptos"/>
              </a:defRPr>
            </a:defPPr>
            <a:lvl1pPr>
              <a:defRPr sz="1875">
                <a:solidFill>
                  <a:srgbClr val="17324D"/>
                </a:solidFill>
                <a:latin typeface="Aptos"/>
                <a:ea typeface="Aptos"/>
                <a:cs typeface="Aptos"/>
              </a:defRPr>
            </a:lvl1pPr>
            <a:lvl2pPr>
              <a:defRPr sz="1875">
                <a:solidFill>
                  <a:srgbClr val="17324D"/>
                </a:solidFill>
                <a:latin typeface="Aptos"/>
                <a:ea typeface="Aptos"/>
                <a:cs typeface="Aptos"/>
              </a:defRPr>
            </a:lvl2pPr>
            <a:lvl3pPr>
              <a:defRPr sz="1875">
                <a:solidFill>
                  <a:srgbClr val="17324D"/>
                </a:solidFill>
                <a:latin typeface="Aptos"/>
                <a:ea typeface="Aptos"/>
                <a:cs typeface="Aptos"/>
              </a:defRPr>
            </a:lvl3pPr>
            <a:lvl4pPr>
              <a:defRPr sz="1875">
                <a:solidFill>
                  <a:srgbClr val="17324D"/>
                </a:solidFill>
                <a:latin typeface="Aptos"/>
                <a:ea typeface="Aptos"/>
                <a:cs typeface="Aptos"/>
              </a:defRPr>
            </a:lvl4pPr>
            <a:lvl5pPr>
              <a:defRPr sz="1875">
                <a:solidFill>
                  <a:srgbClr val="17324D"/>
                </a:solidFill>
                <a:latin typeface="Aptos"/>
                <a:ea typeface="Aptos"/>
                <a:cs typeface="Aptos"/>
              </a:defRPr>
            </a:lvl5pPr>
            <a:lvl6pPr>
              <a:defRPr sz="1875">
                <a:solidFill>
                  <a:srgbClr val="17324D"/>
                </a:solidFill>
                <a:latin typeface="Aptos"/>
                <a:ea typeface="Aptos"/>
                <a:cs typeface="Aptos"/>
              </a:defRPr>
            </a:lvl6pPr>
            <a:lvl7pPr>
              <a:defRPr sz="1875">
                <a:solidFill>
                  <a:srgbClr val="17324D"/>
                </a:solidFill>
                <a:latin typeface="Aptos"/>
                <a:ea typeface="Aptos"/>
                <a:cs typeface="Aptos"/>
              </a:defRPr>
            </a:lvl7pPr>
            <a:lvl8pPr>
              <a:defRPr sz="1875">
                <a:solidFill>
                  <a:srgbClr val="17324D"/>
                </a:solidFill>
                <a:latin typeface="Aptos"/>
                <a:ea typeface="Aptos"/>
                <a:cs typeface="Aptos"/>
              </a:defRPr>
            </a:lvl8pPr>
            <a:lvl9pPr>
              <a:defRPr sz="1875">
                <a:solidFill>
                  <a:srgbClr val="17324D"/>
                </a:solidFill>
                <a:latin typeface="Aptos"/>
                <a:ea typeface="Aptos"/>
                <a:cs typeface="Aptos"/>
              </a:defRPr>
            </a:lvl9pPr>
          </a:lstStyle>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4.0 stars was the most common score.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Film-Noir had the highest genre average.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Drama received the most ratings.</a:t>
            </a:r>
          </a:p>
        </p:txBody>
      </p:sp>
      <p:sp>
        <p:nvSpPr>
          <p:cNvPr id="4" name="">
            <a:extLst xmlns:a="http://schemas.openxmlformats.org/drawingml/2006/main">
              <a:ext uri="{FF2B5EF4-FFF2-40B4-BE49-F238E27FC236}">
                <a16:creationId xmlns:a16="http://schemas.microsoft.com/office/drawing/2014/main" id="{ED70F69C-3641-489A-8C6B-532B76796612}"/>
              </a:ext>
            </a:extLst>
          </p:cNvPr>
          <p:cNvSpPr>
            <a:spLocks xmlns:a="http://schemas.openxmlformats.org/drawingml/2006/main" noGrp="1"/>
          </p:cNvSpPr>
          <p:nvPr/>
        </p:nvSpPr>
        <p:spPr>
          <a:xfrm xmlns:a="http://schemas.openxmlformats.org/drawingml/2006/main">
            <a:off x="6286500" y="14001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cannot show</a:t>
            </a:r>
          </a:p>
        </p:txBody>
      </p:sp>
      <p:sp>
        <p:nvSpPr>
          <p:cNvPr id="5" name="">
            <a:extLst xmlns:a="http://schemas.openxmlformats.org/drawingml/2006/main">
              <a:ext uri="{FF2B5EF4-FFF2-40B4-BE49-F238E27FC236}">
                <a16:creationId xmlns:a16="http://schemas.microsoft.com/office/drawing/2014/main" id="{FFE0F37B-CD94-487A-9F03-BFFF5C4F4FA6}"/>
              </a:ext>
            </a:extLst>
          </p:cNvPr>
          <p:cNvSpPr>
            <a:spLocks xmlns:a="http://schemas.openxmlformats.org/drawingml/2006/main" noGrp="1"/>
          </p:cNvSpPr>
          <p:nvPr/>
        </p:nvSpPr>
        <p:spPr>
          <a:xfrm xmlns:a="http://schemas.openxmlformats.org/drawingml/2006/main">
            <a:off x="6305550" y="1952625"/>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a:solidFill>
                  <a:srgbClr val="17324D"/>
                </a:solidFill>
                <a:latin typeface="Aptos"/>
                <a:ea typeface="Aptos"/>
                <a:cs typeface="Aptos"/>
              </a:defRPr>
            </a:defPPr>
            <a:lvl1pPr>
              <a:defRPr sz="1800">
                <a:solidFill>
                  <a:srgbClr val="17324D"/>
                </a:solidFill>
                <a:latin typeface="Aptos"/>
                <a:ea typeface="Aptos"/>
                <a:cs typeface="Aptos"/>
              </a:defRPr>
            </a:lvl1pPr>
            <a:lvl2pPr>
              <a:defRPr sz="1800">
                <a:solidFill>
                  <a:srgbClr val="17324D"/>
                </a:solidFill>
                <a:latin typeface="Aptos"/>
                <a:ea typeface="Aptos"/>
                <a:cs typeface="Aptos"/>
              </a:defRPr>
            </a:lvl2pPr>
            <a:lvl3pPr>
              <a:defRPr sz="1800">
                <a:solidFill>
                  <a:srgbClr val="17324D"/>
                </a:solidFill>
                <a:latin typeface="Aptos"/>
                <a:ea typeface="Aptos"/>
                <a:cs typeface="Aptos"/>
              </a:defRPr>
            </a:lvl3pPr>
            <a:lvl4pPr>
              <a:defRPr sz="1800">
                <a:solidFill>
                  <a:srgbClr val="17324D"/>
                </a:solidFill>
                <a:latin typeface="Aptos"/>
                <a:ea typeface="Aptos"/>
                <a:cs typeface="Aptos"/>
              </a:defRPr>
            </a:lvl4pPr>
            <a:lvl5pPr>
              <a:defRPr sz="1800">
                <a:solidFill>
                  <a:srgbClr val="17324D"/>
                </a:solidFill>
                <a:latin typeface="Aptos"/>
                <a:ea typeface="Aptos"/>
                <a:cs typeface="Aptos"/>
              </a:defRPr>
            </a:lvl5pPr>
            <a:lvl6pPr>
              <a:defRPr sz="1800">
                <a:solidFill>
                  <a:srgbClr val="17324D"/>
                </a:solidFill>
                <a:latin typeface="Aptos"/>
                <a:ea typeface="Aptos"/>
                <a:cs typeface="Aptos"/>
              </a:defRPr>
            </a:lvl6pPr>
            <a:lvl7pPr>
              <a:defRPr sz="1800">
                <a:solidFill>
                  <a:srgbClr val="17324D"/>
                </a:solidFill>
                <a:latin typeface="Aptos"/>
                <a:ea typeface="Aptos"/>
                <a:cs typeface="Aptos"/>
              </a:defRPr>
            </a:lvl7pPr>
            <a:lvl8pPr>
              <a:defRPr sz="1800">
                <a:solidFill>
                  <a:srgbClr val="17324D"/>
                </a:solidFill>
                <a:latin typeface="Aptos"/>
                <a:ea typeface="Aptos"/>
                <a:cs typeface="Aptos"/>
              </a:defRPr>
            </a:lvl8pPr>
            <a:lvl9pPr>
              <a:defRPr sz="1800">
                <a:solidFill>
                  <a:srgbClr val="17324D"/>
                </a:solidFill>
                <a:latin typeface="Aptos"/>
                <a:ea typeface="Aptos"/>
                <a:cs typeface="Aptos"/>
              </a:defRPr>
            </a:lvl9pPr>
          </a:lstStyle>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Averages do not explain why someone liked a movie.</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Genres have different numbers of ratings.</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 high average can come from fewer ratings.</a:t>
            </a:r>
          </a:p>
        </p:txBody>
      </p:sp>
      <p:sp>
        <p:nvSpPr>
          <p:cNvPr id="6" name="">
            <a:extLst xmlns:a="http://schemas.openxmlformats.org/drawingml/2006/main">
              <a:ext uri="{FF2B5EF4-FFF2-40B4-BE49-F238E27FC236}">
                <a16:creationId xmlns:a16="http://schemas.microsoft.com/office/drawing/2014/main" id="{2222DB37-9835-4192-A14A-AFF74FBBCDE9}"/>
              </a:ext>
            </a:extLst>
          </p:cNvPr>
          <p:cNvSpPr>
            <a:spLocks xmlns:a="http://schemas.openxmlformats.org/drawingml/2006/main" noGrp="1"/>
          </p:cNvSpPr>
          <p:nvPr/>
        </p:nvSpPr>
        <p:spPr>
          <a:xfrm xmlns:a="http://schemas.openxmlformats.org/drawingml/2006/main">
            <a:off x="742950" y="47625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2243A"/>
                </a:solidFill>
                <a:latin typeface="Aptos"/>
                <a:ea typeface="Aptos"/>
                <a:cs typeface="Aptos"/>
              </a:defRPr>
            </a:defPPr>
            <a:lvl1pPr>
              <a:defRPr sz="3000" b="1">
                <a:solidFill>
                  <a:srgbClr val="12243A"/>
                </a:solidFill>
                <a:latin typeface="Aptos"/>
                <a:ea typeface="Aptos"/>
                <a:cs typeface="Aptos"/>
              </a:defRPr>
            </a:lvl1pPr>
            <a:lvl2pPr>
              <a:defRPr sz="3000" b="1">
                <a:solidFill>
                  <a:srgbClr val="12243A"/>
                </a:solidFill>
                <a:latin typeface="Aptos"/>
                <a:ea typeface="Aptos"/>
                <a:cs typeface="Aptos"/>
              </a:defRPr>
            </a:lvl2pPr>
            <a:lvl3pPr>
              <a:defRPr sz="3000" b="1">
                <a:solidFill>
                  <a:srgbClr val="12243A"/>
                </a:solidFill>
                <a:latin typeface="Aptos"/>
                <a:ea typeface="Aptos"/>
                <a:cs typeface="Aptos"/>
              </a:defRPr>
            </a:lvl3pPr>
            <a:lvl4pPr>
              <a:defRPr sz="3000" b="1">
                <a:solidFill>
                  <a:srgbClr val="12243A"/>
                </a:solidFill>
                <a:latin typeface="Aptos"/>
                <a:ea typeface="Aptos"/>
                <a:cs typeface="Aptos"/>
              </a:defRPr>
            </a:lvl4pPr>
            <a:lvl5pPr>
              <a:defRPr sz="3000" b="1">
                <a:solidFill>
                  <a:srgbClr val="12243A"/>
                </a:solidFill>
                <a:latin typeface="Aptos"/>
                <a:ea typeface="Aptos"/>
                <a:cs typeface="Aptos"/>
              </a:defRPr>
            </a:lvl5pPr>
            <a:lvl6pPr>
              <a:defRPr sz="3000" b="1">
                <a:solidFill>
                  <a:srgbClr val="12243A"/>
                </a:solidFill>
                <a:latin typeface="Aptos"/>
                <a:ea typeface="Aptos"/>
                <a:cs typeface="Aptos"/>
              </a:defRPr>
            </a:lvl6pPr>
            <a:lvl7pPr>
              <a:defRPr sz="3000" b="1">
                <a:solidFill>
                  <a:srgbClr val="12243A"/>
                </a:solidFill>
                <a:latin typeface="Aptos"/>
                <a:ea typeface="Aptos"/>
                <a:cs typeface="Aptos"/>
              </a:defRPr>
            </a:lvl7pPr>
            <a:lvl8pPr>
              <a:defRPr sz="3000" b="1">
                <a:solidFill>
                  <a:srgbClr val="12243A"/>
                </a:solidFill>
                <a:latin typeface="Aptos"/>
                <a:ea typeface="Aptos"/>
                <a:cs typeface="Aptos"/>
              </a:defRPr>
            </a:lvl8pPr>
            <a:lvl9pPr>
              <a:defRPr sz="3000" b="1">
                <a:solidFill>
                  <a:srgbClr val="12243A"/>
                </a:solidFill>
                <a:latin typeface="Aptos"/>
                <a:ea typeface="Aptos"/>
                <a:cs typeface="Aptos"/>
              </a:defRPr>
            </a:lvl9pPr>
          </a:lstStyle>
          <a:p xmlns:a="http://schemas.openxmlformats.org/drawingml/2006/main">
            <a:pPr>
              <a:defRPr sz="3000" b="1">
                <a:solidFill>
                  <a:srgbClr val="12243A"/>
                </a:solidFill>
                <a:latin typeface="Aptos"/>
                <a:ea typeface="Aptos"/>
                <a:cs typeface="Aptos"/>
              </a:defRPr>
            </a:pPr>
            <a:r>
              <a:rPr sz="3000" b="1">
                <a:solidFill>
                  <a:srgbClr val="12243A"/>
                </a:solidFill>
                <a:latin typeface="Aptos"/>
                <a:ea typeface="Aptos"/>
                <a:cs typeface="Aptos"/>
              </a:rPr>
              <a:t>Thank you</a:t>
            </a:r>
          </a:p>
        </p:txBody>
      </p:sp>
    </p:spTree>
    <p:extLst>
      <p:ext uri="{BB962C8B-B14F-4D97-AF65-F5344CB8AC3E}">
        <p14:creationId xmlns:p14="http://schemas.microsoft.com/office/powerpoint/2010/main" val="1710456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2026-10-25T13:00:51.1070000Z</dcterms:created>
  <dcterms:modified xsi:type="dcterms:W3CDTF">2026-10-25T13:00:51.1070000Z</dcterms:modified>
</coreProperties>
</file>